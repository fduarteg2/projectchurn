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03920" y="0"/>
            <a:ext cx="3687775" cy="6858000"/>
          </a:xfrm>
          <a:prstGeom prst="rect">
            <a:avLst/>
          </a:prstGeom>
          <a:solidFill>
            <a:srgbClr val="153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1097280"/>
            <a:ext cx="1280160" cy="1280160"/>
          </a:xfrm>
          <a:prstGeom prst="ellipse">
            <a:avLst/>
          </a:prstGeom>
          <a:solidFill>
            <a:srgbClr val="8EC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3291840"/>
            <a:ext cx="1828800" cy="18288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4937760"/>
            <a:ext cx="1005840" cy="1005840"/>
          </a:xfrm>
          <a:prstGeom prst="ellipse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ECAE6"/>
                </a:solidFill>
                <a:latin typeface="Calibri"/>
              </a:rPr>
              <a:t>PROYECTO FINAL · DESPLIEGUE DE SOLUCIONES ANALÍTICAS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7315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TelcoChurn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29000"/>
            <a:ext cx="6858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DE6EE"/>
                </a:solidFill>
                <a:latin typeface="Calibri"/>
              </a:rPr>
              <a:t>Predicción de fuga de clientes, servida como API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DE6EE"/>
                </a:solidFill>
                <a:latin typeface="Calibri"/>
              </a:rPr>
              <a:t>y visualizada en un tablero — desplegados en la nube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4343400"/>
            <a:ext cx="822960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720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Ferney Duarte Garzón  ·  Andrés Mauricio Rueda Blanco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3776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ECAE6"/>
                </a:solidFill>
                <a:latin typeface="Calibri"/>
              </a:rPr>
              <a:t>github.com/fduarteg2/ProjectChurn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ECAE6"/>
                </a:solidFill>
                <a:latin typeface="Calibri"/>
              </a:rPr>
              <a:t>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28016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ECAE6"/>
                </a:solidFill>
                <a:latin typeface="Calibri"/>
              </a:rPr>
              <a:t>02/12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1848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363636"/>
                </a:solidFill>
                <a:latin typeface="Calibri"/>
              </a:rPr>
              <a:t>El problema y la oportunidad de negocio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304288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68296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363636"/>
                </a:solidFill>
                <a:latin typeface="Calibri"/>
              </a:rPr>
              <a:t>Modelos construidos y evaluación (MLflow)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054096"/>
            <a:ext cx="502920" cy="502920"/>
          </a:xfrm>
          <a:prstGeom prst="ellipse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18104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363636"/>
                </a:solidFill>
                <a:latin typeface="Calibri"/>
              </a:rPr>
              <a:t>La solución: tablero + API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803904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867912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363636"/>
                </a:solidFill>
                <a:latin typeface="Calibri"/>
              </a:rPr>
              <a:t>Arquitectura y despliegue en la nube (Docker + AWS EC2)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553712"/>
            <a:ext cx="502920" cy="502920"/>
          </a:xfrm>
          <a:prstGeom prst="ellipse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617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363636"/>
                </a:solidFill>
                <a:latin typeface="Calibri"/>
              </a:rPr>
              <a:t>Demostración en vivo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36752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363636"/>
                </a:solidFill>
                <a:latin typeface="Calibri"/>
              </a:rPr>
              <a:t>Resultados, conclusiones y trabajo futuro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9E"/>
                </a:solidFill>
                <a:latin typeface="Calibri"/>
              </a:rPr>
              <a:t>TelcoChurn — Despliegue de Soluciones Analíticas en la Nube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ECAE6"/>
                </a:solidFill>
                <a:latin typeface="Calibri"/>
              </a:rPr>
              <a:t>CONTEXTO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28016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ECAE6"/>
                </a:solidFill>
                <a:latin typeface="Calibri"/>
              </a:rPr>
              <a:t>03/12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035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400">
                <a:solidFill>
                  <a:srgbClr val="F16A70"/>
                </a:solidFill>
                <a:latin typeface="Calibri"/>
              </a:rPr>
              <a:t>●  </a:t>
            </a:r>
            <a:r>
              <a:rPr b="1" sz="1700">
                <a:solidFill>
                  <a:srgbClr val="1F4E79"/>
                </a:solidFill>
                <a:latin typeface="Calibri"/>
              </a:rPr>
              <a:t>Reactivo, no proactivo. </a:t>
            </a:r>
            <a:r>
              <a:rPr sz="1700">
                <a:solidFill>
                  <a:srgbClr val="363636"/>
                </a:solidFill>
                <a:latin typeface="Calibri"/>
              </a:rPr>
              <a:t>Los equipos de gestión de cuentas se enteran de la insatisfacción del cliente cuando la cancelación ya fue decidida.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400">
                <a:solidFill>
                  <a:srgbClr val="F16A70"/>
                </a:solidFill>
                <a:latin typeface="Calibri"/>
              </a:rPr>
              <a:t>●  </a:t>
            </a:r>
            <a:r>
              <a:rPr b="1" sz="1700">
                <a:solidFill>
                  <a:srgbClr val="1F4E79"/>
                </a:solidFill>
                <a:latin typeface="Calibri"/>
              </a:rPr>
              <a:t>Costo asimétrico. </a:t>
            </a:r>
            <a:r>
              <a:rPr sz="1700">
                <a:solidFill>
                  <a:srgbClr val="363636"/>
                </a:solidFill>
                <a:latin typeface="Calibri"/>
              </a:rPr>
              <a:t>Retener un cliente cuesta significativamente menos que adquirir uno nuevo.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400">
                <a:solidFill>
                  <a:srgbClr val="F16A70"/>
                </a:solidFill>
                <a:latin typeface="Calibri"/>
              </a:rPr>
              <a:t>●  </a:t>
            </a:r>
            <a:r>
              <a:rPr b="1" sz="1700">
                <a:solidFill>
                  <a:srgbClr val="1F4E79"/>
                </a:solidFill>
                <a:latin typeface="Calibri"/>
              </a:rPr>
              <a:t>Falta de foco. </a:t>
            </a:r>
            <a:r>
              <a:rPr sz="1700">
                <a:solidFill>
                  <a:srgbClr val="363636"/>
                </a:solidFill>
                <a:latin typeface="Calibri"/>
              </a:rPr>
              <a:t>No hay una herramienta que priorice el esfuerzo de retención hacia los clientes de mayor valor.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417320"/>
            <a:ext cx="4754880" cy="9601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536192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¿Qué clientes tienen mayor probabilidad de cancelar,</a:t>
            </a:r>
          </a:p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y qué factores lo explican?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606040"/>
            <a:ext cx="15087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03720" y="2606040"/>
            <a:ext cx="82296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2715768"/>
            <a:ext cx="1143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4E79"/>
                </a:solidFill>
                <a:latin typeface="Calibri"/>
              </a:rPr>
              <a:t>7,043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593592"/>
            <a:ext cx="1143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63636"/>
                </a:solidFill>
                <a:latin typeface="Calibri"/>
              </a:rPr>
              <a:t>clientes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63636"/>
                </a:solidFill>
                <a:latin typeface="Calibri"/>
              </a:rPr>
              <a:t>analizados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2606040"/>
            <a:ext cx="15087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49640" y="2606040"/>
            <a:ext cx="82296" cy="13716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715768"/>
            <a:ext cx="1143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16A70"/>
                </a:solidFill>
                <a:latin typeface="Calibri"/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593592"/>
            <a:ext cx="1143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63636"/>
                </a:solidFill>
                <a:latin typeface="Calibri"/>
              </a:rPr>
              <a:t>variables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63636"/>
                </a:solidFill>
                <a:latin typeface="Calibri"/>
              </a:rPr>
              <a:t>predictoras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95560" y="2606040"/>
            <a:ext cx="14630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195560" y="2606040"/>
            <a:ext cx="82296" cy="1371600"/>
          </a:xfrm>
          <a:prstGeom prst="rect">
            <a:avLst/>
          </a:prstGeom>
          <a:solidFill>
            <a:srgbClr val="8EC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0" y="2715768"/>
            <a:ext cx="1097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8ECAE6"/>
                </a:solidFill>
                <a:latin typeface="Calibri"/>
              </a:rPr>
              <a:t>26.5%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3593592"/>
            <a:ext cx="10972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63636"/>
                </a:solidFill>
                <a:latin typeface="Calibri"/>
              </a:rPr>
              <a:t>tasa de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63636"/>
                </a:solidFill>
                <a:latin typeface="Calibri"/>
              </a:rPr>
              <a:t>churn histórica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262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16A70"/>
                </a:solidFill>
                <a:latin typeface="Calibri"/>
              </a:rPr>
              <a:t>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63636"/>
                </a:solidFill>
                <a:latin typeface="Calibri"/>
              </a:rPr>
              <a:t>Telco Customer Churn (Kaggle) — identificación, demografía, servicios contratados y cuenta/pagos. Sin cambios respecto a la Entrega 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9E"/>
                </a:solidFill>
                <a:latin typeface="Calibri"/>
              </a:rPr>
              <a:t>TelcoChurn — Despliegue de Soluciones Analíticas en la Nube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ECAE6"/>
                </a:solidFill>
                <a:latin typeface="Calibri"/>
              </a:rP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Modelos construidos y experimentación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28016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ECAE6"/>
                </a:solidFill>
                <a:latin typeface="Calibri"/>
              </a:rPr>
              <a:t>04/12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>
                <a:solidFill>
                  <a:srgbClr val="F16A70"/>
                </a:solidFill>
                <a:latin typeface="Calibri"/>
              </a:rPr>
              <a:t>●  </a:t>
            </a:r>
            <a:r>
              <a:rPr b="1" sz="1600">
                <a:solidFill>
                  <a:srgbClr val="1F4E79"/>
                </a:solidFill>
                <a:latin typeface="Calibri"/>
              </a:rPr>
              <a:t>9 experimentos, </a:t>
            </a:r>
            <a:r>
              <a:rPr sz="1600">
                <a:solidFill>
                  <a:srgbClr val="363636"/>
                </a:solidFill>
                <a:latin typeface="Calibri"/>
              </a:rPr>
              <a:t>3 familias de modelos: Regresión Logística, Random Forest, Gradient Boosting.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>
                <a:solidFill>
                  <a:srgbClr val="F16A70"/>
                </a:solidFill>
                <a:latin typeface="Calibri"/>
              </a:rPr>
              <a:t>●  </a:t>
            </a:r>
            <a:r>
              <a:rPr b="1" sz="1600">
                <a:solidFill>
                  <a:srgbClr val="1F4E79"/>
                </a:solidFill>
                <a:latin typeface="Calibri"/>
              </a:rPr>
              <a:t>Todo registrado en MLflow: </a:t>
            </a:r>
            <a:r>
              <a:rPr sz="1600">
                <a:solidFill>
                  <a:srgbClr val="363636"/>
                </a:solidFill>
                <a:latin typeface="Calibri"/>
              </a:rPr>
              <a:t>parámetros, métricas (accuracy, precision, recall, F1, ROC AUC) y artefactos.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>
                <a:solidFill>
                  <a:srgbClr val="F16A70"/>
                </a:solidFill>
                <a:latin typeface="Calibri"/>
              </a:rPr>
              <a:t>●  </a:t>
            </a:r>
            <a:r>
              <a:rPr b="1" sz="1600">
                <a:solidFill>
                  <a:srgbClr val="1F4E79"/>
                </a:solidFill>
                <a:latin typeface="Calibri"/>
              </a:rPr>
              <a:t>Pipeline reproducible: </a:t>
            </a:r>
            <a:r>
              <a:rPr sz="1600">
                <a:solidFill>
                  <a:srgbClr val="363636"/>
                </a:solidFill>
                <a:latin typeface="Calibri"/>
              </a:rPr>
              <a:t>imputación, escalado y one-hot encoding encadenados con el clasificador.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>
                <a:solidFill>
                  <a:srgbClr val="F16A70"/>
                </a:solidFill>
                <a:latin typeface="Calibri"/>
              </a:rPr>
              <a:t>●  </a:t>
            </a:r>
            <a:r>
              <a:rPr b="1" sz="1600">
                <a:solidFill>
                  <a:srgbClr val="1F4E79"/>
                </a:solidFill>
                <a:latin typeface="Calibri"/>
              </a:rPr>
              <a:t>Desplegado en AWS EC2: </a:t>
            </a:r>
            <a:r>
              <a:rPr sz="1600">
                <a:solidFill>
                  <a:srgbClr val="363636"/>
                </a:solidFill>
                <a:latin typeface="Calibri"/>
              </a:rPr>
              <a:t>servidor de MLflow con IP pública, evidencia de todas las corridas.</a:t>
            </a:r>
          </a:p>
        </p:txBody>
      </p:sp>
      <p:pic>
        <p:nvPicPr>
          <p:cNvPr id="8" name="Picture 7" descr="e2_fig1_f1_compa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63040"/>
            <a:ext cx="5760720" cy="2688336"/>
          </a:xfrm>
          <a:prstGeom prst="rect">
            <a:avLst/>
          </a:prstGeom>
          <a:ln w="12700">
            <a:solidFill>
              <a:srgbClr val="E3E7EC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9E"/>
                </a:solidFill>
                <a:latin typeface="Calibri"/>
              </a:rPr>
              <a:t>TelcoChurn — Despliegue de Soluciones Analíticas en la Nube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ECAE6"/>
                </a:solidFill>
                <a:latin typeface="Calibri"/>
              </a:rP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Modelo seleccionado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28016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ECAE6"/>
                </a:solidFill>
                <a:latin typeface="Calibri"/>
              </a:rPr>
              <a:t>05/12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931920" cy="420624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ECAE6"/>
                </a:solidFill>
                <a:latin typeface="Calibri"/>
              </a:rPr>
              <a:t>400 árboles · profundidad máx. 10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ECAE6"/>
                </a:solidFill>
                <a:latin typeface="Calibri"/>
              </a:rPr>
              <a:t>class_weight = balanced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Prioriza capturar clientes en riesgo (recall alto) sin sacrificar demasiada precisión — el balance correcto para un flujo de triage donde un Account Manager revisa la lista priorizada.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417320"/>
            <a:ext cx="18288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0" y="1417320"/>
            <a:ext cx="82296" cy="150876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527048"/>
            <a:ext cx="1463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16A70"/>
                </a:solidFill>
                <a:latin typeface="Calibri"/>
              </a:rPr>
              <a:t>0.622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542032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63636"/>
                </a:solidFill>
                <a:latin typeface="Calibri"/>
              </a:rPr>
              <a:t>F1-score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1417320"/>
            <a:ext cx="18288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66560" y="1417320"/>
            <a:ext cx="82296" cy="1508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1527048"/>
            <a:ext cx="1463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4E79"/>
                </a:solidFill>
                <a:latin typeface="Calibri"/>
              </a:rPr>
              <a:t>0.719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542032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63636"/>
                </a:solidFill>
                <a:latin typeface="Calibri"/>
              </a:rPr>
              <a:t>Recall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3063240"/>
            <a:ext cx="18288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00600" y="3063240"/>
            <a:ext cx="82296" cy="1508760"/>
          </a:xfrm>
          <a:prstGeom prst="rect">
            <a:avLst/>
          </a:prstGeom>
          <a:solidFill>
            <a:srgbClr val="8EC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172968"/>
            <a:ext cx="1463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8ECAE6"/>
                </a:solidFill>
                <a:latin typeface="Calibri"/>
              </a:rPr>
              <a:t>0.548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187952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63636"/>
                </a:solidFill>
                <a:latin typeface="Calibri"/>
              </a:rPr>
              <a:t>Precision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3063240"/>
            <a:ext cx="18288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66560" y="3063240"/>
            <a:ext cx="82296" cy="150876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3172968"/>
            <a:ext cx="1463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16A70"/>
                </a:solidFill>
                <a:latin typeface="Calibri"/>
              </a:rPr>
              <a:t>0.840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187952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63636"/>
                </a:solidFill>
                <a:latin typeface="Calibri"/>
              </a:rPr>
              <a:t>ROC AUC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800600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16A70"/>
                </a:solidFill>
                <a:latin typeface="Calibri"/>
              </a:rPr>
              <a:t>¿POR QUÉ ESTE MODELO Y NO OTRO?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5120640"/>
            <a:ext cx="6309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50">
                <a:solidFill>
                  <a:srgbClr val="F16A70"/>
                </a:solidFill>
                <a:latin typeface="Calibri"/>
              </a:rPr>
              <a:t>●  </a:t>
            </a:r>
            <a:r>
              <a:rPr sz="1350">
                <a:solidFill>
                  <a:srgbClr val="363636"/>
                </a:solidFill>
                <a:latin typeface="Calibri"/>
              </a:rPr>
              <a:t>Regresión Logística: mejor recall (~0.78) pero precisión baja (~0.50) — sobre-alerta.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50">
                <a:solidFill>
                  <a:srgbClr val="F16A70"/>
                </a:solidFill>
                <a:latin typeface="Calibri"/>
              </a:rPr>
              <a:t>●  </a:t>
            </a:r>
            <a:r>
              <a:rPr sz="1350">
                <a:solidFill>
                  <a:srgbClr val="363636"/>
                </a:solidFill>
                <a:latin typeface="Calibri"/>
              </a:rPr>
              <a:t>Gradient Boosting: mayor accuracy (0.80) pero recall bajo (~0.52) — deja pasar churners.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9E"/>
                </a:solidFill>
                <a:latin typeface="Calibri"/>
              </a:rPr>
              <a:t>TelcoChurn — Despliegue de Soluciones Analíticas en la Nube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ECAE6"/>
                </a:solidFill>
                <a:latin typeface="Calibri"/>
              </a:rPr>
              <a:t>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La solución: tablero +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28016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ECAE6"/>
                </a:solidFill>
                <a:latin typeface="Calibri"/>
              </a:rPr>
              <a:t>06/12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F16A70"/>
                </a:solidFill>
                <a:latin typeface="Calibri"/>
              </a:rPr>
              <a:t>●  </a:t>
            </a:r>
            <a:r>
              <a:rPr sz="1700">
                <a:solidFill>
                  <a:srgbClr val="363636"/>
                </a:solidFill>
                <a:latin typeface="Calibri"/>
              </a:rPr>
              <a:t>Un producto de datos de punta a punta: modelo empaquetado, servido por una API, y consumido por un tablero interactivo.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3611880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363636"/>
                </a:solidFill>
                <a:latin typeface="Calibri"/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4E79"/>
                </a:solidFill>
                <a:latin typeface="Calibri"/>
              </a:rPr>
              <a:t>Simulador de</a:t>
            </a:r>
          </a:p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4E79"/>
                </a:solidFill>
                <a:latin typeface="Calibri"/>
              </a:rPr>
              <a:t>Escenarios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63636"/>
                </a:solidFill>
                <a:latin typeface="Calibri"/>
              </a:rPr>
              <a:t>Ajusta variables de un cliente y observa el cambio en su probabilidad de fuga en tiempo real.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5146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514600"/>
            <a:ext cx="3611880" cy="109728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7889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363636"/>
                </a:solidFill>
                <a:latin typeface="Calibri"/>
              </a:rPr>
              <a:t>🗺️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42900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4E79"/>
                </a:solidFill>
                <a:latin typeface="Calibri"/>
              </a:rPr>
              <a:t>Matriz de</a:t>
            </a:r>
          </a:p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4E79"/>
                </a:solidFill>
                <a:latin typeface="Calibri"/>
              </a:rPr>
              <a:t>Priorización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16052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63636"/>
                </a:solidFill>
                <a:latin typeface="Calibri"/>
              </a:rPr>
              <a:t>Cruza riesgo vs. valor (facturación) para identificar la Zona Crítica a priorizar.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5146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514600"/>
            <a:ext cx="3611880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7889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363636"/>
                </a:solidFill>
                <a:latin typeface="Calibri"/>
              </a:rP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42900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4E79"/>
                </a:solidFill>
                <a:latin typeface="Calibri"/>
              </a:rPr>
              <a:t>Factores de</a:t>
            </a:r>
          </a:p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4E79"/>
                </a:solidFill>
                <a:latin typeface="Calibri"/>
              </a:rPr>
              <a:t>Influencia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16052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63636"/>
                </a:solidFill>
                <a:latin typeface="Calibri"/>
              </a:rPr>
              <a:t>Explicabilidad del modelo: qué variables de negocio más pesan en la predicción.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9E"/>
                </a:solidFill>
                <a:latin typeface="Calibri"/>
              </a:rPr>
              <a:t>TelcoChurn — Despliegue de Soluciones Analíticas en la Nube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ECAE6"/>
                </a:solidFill>
                <a:latin typeface="Calibri"/>
              </a:rPr>
              <a:t>INGENIERÍA DE DESPLIEGUE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Arquitectura: API + Tablero +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28016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ECAE6"/>
                </a:solidFill>
                <a:latin typeface="Calibri"/>
              </a:rPr>
              <a:t>07/12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363636"/>
                </a:solidFill>
                <a:latin typeface="Calibri"/>
              </a:rPr>
              <a:t>Novedad de esta entrega: el tablero ya no carga el modelo — consume una API independiente.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2331720" cy="1371600"/>
          </a:xfrm>
          <a:prstGeom prst="roundRect">
            <a:avLst>
              <a:gd name="adj" fmla="val 10000"/>
            </a:avLst>
          </a:prstGeom>
          <a:solidFill>
            <a:srgbClr val="8A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560320"/>
            <a:ext cx="20025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Usuario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090672"/>
            <a:ext cx="2002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E7EEF4"/>
                </a:solidFill>
                <a:latin typeface="Calibri"/>
              </a:rPr>
              <a:t>Navegador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80360" y="3063240.0"/>
            <a:ext cx="502920" cy="0.0"/>
          </a:xfrm>
          <a:prstGeom prst="line">
            <a:avLst/>
          </a:prstGeom>
          <a:ln w="28575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83280" y="2377440"/>
            <a:ext cx="2331720" cy="137160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2560320"/>
            <a:ext cx="20025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churn-tablero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090672"/>
            <a:ext cx="2002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E7EEF4"/>
                </a:solidFill>
                <a:latin typeface="Calibri"/>
              </a:rPr>
              <a:t>Streamlit · :8501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15000" y="3063240.0"/>
            <a:ext cx="502920" cy="0.0"/>
          </a:xfrm>
          <a:prstGeom prst="line">
            <a:avLst/>
          </a:prstGeom>
          <a:ln w="28575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17920" y="2377440"/>
            <a:ext cx="2331720" cy="1371600"/>
          </a:xfrm>
          <a:prstGeom prst="roundRect">
            <a:avLst>
              <a:gd name="adj" fmla="val 10000"/>
            </a:avLst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560320"/>
            <a:ext cx="20025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churn-api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090672"/>
            <a:ext cx="2002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E7EEF4"/>
                </a:solidFill>
                <a:latin typeface="Calibri"/>
              </a:rPr>
              <a:t>FastAPI · :8001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49640" y="3063240.0"/>
            <a:ext cx="502920" cy="0.0"/>
          </a:xfrm>
          <a:prstGeom prst="line">
            <a:avLst/>
          </a:prstGeom>
          <a:ln w="28575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52560" y="2377440"/>
            <a:ext cx="2331720" cy="1371600"/>
          </a:xfrm>
          <a:prstGeom prst="roundRect">
            <a:avLst>
              <a:gd name="adj" fmla="val 10000"/>
            </a:avLst>
          </a:prstGeom>
          <a:solidFill>
            <a:srgbClr val="8EC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7152" y="2560320"/>
            <a:ext cx="20025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3090672"/>
            <a:ext cx="2002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E7EEF4"/>
                </a:solidFill>
                <a:latin typeface="Calibri"/>
              </a:rPr>
              <a:t>RandomForest .joblib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605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16A70"/>
                </a:solidFill>
                <a:latin typeface="Calibri"/>
              </a:rPr>
              <a:t>TODO EN CONTENEDORES DOCKER — DESPLEGADO EN AWS EC2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7200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54456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63636"/>
                </a:solidFill>
                <a:latin typeface="Calibri"/>
              </a:rPr>
              <a:t>docker compose build &amp;&amp; docker compose up -d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00176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63636"/>
                </a:solidFill>
                <a:latin typeface="Calibri"/>
              </a:rPr>
              <a:t>Security Group: puertos 8001 (API) y 8501 (tablero) abiertos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8640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45896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63636"/>
                </a:solidFill>
                <a:latin typeface="Calibri"/>
              </a:rPr>
              <a:t>GET /health · POST /predict · POST /predict_batch · GET /feature-importances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9E"/>
                </a:solidFill>
                <a:latin typeface="Calibri"/>
              </a:rPr>
              <a:t>TelcoChurn — Despliegue de Soluciones Analíticas en la Nube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ECAE6"/>
                </a:solidFill>
                <a:latin typeface="Calibri"/>
              </a:rPr>
              <a:t>DEMOSTRACIÓN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La API en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28016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ECAE6"/>
                </a:solidFill>
                <a:latin typeface="Calibri"/>
              </a:rPr>
              <a:t>08/12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16A70"/>
                </a:solidFill>
                <a:latin typeface="Calibri"/>
              </a:rPr>
              <a:t>http://3.90.218.62:8001/docs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>
                <a:solidFill>
                  <a:srgbClr val="F16A70"/>
                </a:solidFill>
                <a:latin typeface="Calibri"/>
              </a:rPr>
              <a:t>●  </a:t>
            </a:r>
            <a:r>
              <a:rPr sz="1500">
                <a:solidFill>
                  <a:srgbClr val="363636"/>
                </a:solidFill>
                <a:latin typeface="Calibri"/>
              </a:rPr>
              <a:t>Documentación interactiva (Swagger UI) autogenerada por FastAPI.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>
                <a:solidFill>
                  <a:srgbClr val="F16A70"/>
                </a:solidFill>
                <a:latin typeface="Calibri"/>
              </a:rPr>
              <a:t>●  </a:t>
            </a:r>
            <a:r>
              <a:rPr sz="1500">
                <a:solidFill>
                  <a:srgbClr val="363636"/>
                </a:solidFill>
                <a:latin typeface="Calibri"/>
              </a:rPr>
              <a:t>Endpoint POST /predict recibe el perfil del cliente y responde probabilidad de fuga y etiqueta de riesgo.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>
                <a:solidFill>
                  <a:srgbClr val="F16A70"/>
                </a:solidFill>
                <a:latin typeface="Calibri"/>
              </a:rPr>
              <a:t>●  </a:t>
            </a:r>
            <a:r>
              <a:rPr sz="1500">
                <a:solidFill>
                  <a:srgbClr val="363636"/>
                </a:solidFill>
                <a:latin typeface="Calibri"/>
              </a:rPr>
              <a:t>La IP pública confirma que la API responde desde la instancia EC2 desplegada, no en local.</a:t>
            </a:r>
          </a:p>
        </p:txBody>
      </p:sp>
      <p:pic>
        <p:nvPicPr>
          <p:cNvPr id="9" name="Picture 8" descr="02_api_swagger_predict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669280" cy="4330179"/>
          </a:xfrm>
          <a:prstGeom prst="rect">
            <a:avLst/>
          </a:prstGeom>
          <a:ln w="12700">
            <a:solidFill>
              <a:srgbClr val="E3E7EC"/>
            </a:solidFill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9E"/>
                </a:solidFill>
                <a:latin typeface="Calibri"/>
              </a:rPr>
              <a:t>TelcoChurn — Despliegue de Soluciones Analíticas en la Nube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ECAE6"/>
                </a:solidFill>
                <a:latin typeface="Calibri"/>
              </a:rPr>
              <a:t>DEMOSTRACIÓN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El tablero: Simulador de Escenarios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28016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ECAE6"/>
                </a:solidFill>
                <a:latin typeface="Calibri"/>
              </a:rPr>
              <a:t>09/12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16A70"/>
                </a:solidFill>
                <a:latin typeface="Calibri"/>
              </a:rPr>
              <a:t>http://3.90.218.62:8501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>
                <a:solidFill>
                  <a:srgbClr val="F16A70"/>
                </a:solidFill>
                <a:latin typeface="Calibri"/>
              </a:rPr>
              <a:t>●  </a:t>
            </a:r>
            <a:r>
              <a:rPr sz="1500">
                <a:solidFill>
                  <a:srgbClr val="363636"/>
                </a:solidFill>
                <a:latin typeface="Calibri"/>
              </a:rPr>
              <a:t>El Account Manager elige un cliente y ajusta variables de negocio (contrato, soporte técnico, método de pago).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>
                <a:solidFill>
                  <a:srgbClr val="F16A70"/>
                </a:solidFill>
                <a:latin typeface="Calibri"/>
              </a:rPr>
              <a:t>●  </a:t>
            </a:r>
            <a:r>
              <a:rPr sz="1500">
                <a:solidFill>
                  <a:srgbClr val="363636"/>
                </a:solidFill>
                <a:latin typeface="Calibri"/>
              </a:rPr>
              <a:t>La probabilidad de fuga se recalcula al instante — vía llamada HTTP a churn-api.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>
                <a:solidFill>
                  <a:srgbClr val="F16A70"/>
                </a:solidFill>
                <a:latin typeface="Calibri"/>
              </a:rPr>
              <a:t>●  </a:t>
            </a:r>
            <a:r>
              <a:rPr sz="1500">
                <a:solidFill>
                  <a:srgbClr val="363636"/>
                </a:solidFill>
                <a:latin typeface="Calibri"/>
              </a:rPr>
              <a:t>Permite evaluar, antes de contactar al cliente, qué acción de retención tendría más impacto.</a:t>
            </a:r>
          </a:p>
        </p:txBody>
      </p:sp>
      <p:pic>
        <p:nvPicPr>
          <p:cNvPr id="9" name="Picture 8" descr="03_tablero_simul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669280" cy="4348871"/>
          </a:xfrm>
          <a:prstGeom prst="rect">
            <a:avLst/>
          </a:prstGeom>
          <a:ln w="12700">
            <a:solidFill>
              <a:srgbClr val="E3E7EC"/>
            </a:solidFill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9E"/>
                </a:solidFill>
                <a:latin typeface="Calibri"/>
              </a:rPr>
              <a:t>TelcoChurn — Despliegue de Soluciones Analíticas en la Nube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ECAE6"/>
                </a:solidFill>
                <a:latin typeface="Calibri"/>
              </a:rPr>
              <a:t>DEMOSTRACIÓN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Priorización y explicabilidad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28016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ECAE6"/>
                </a:solidFill>
                <a:latin typeface="Calibri"/>
              </a:rPr>
              <a:t>10/12</a:t>
            </a:r>
          </a:p>
        </p:txBody>
      </p:sp>
      <p:pic>
        <p:nvPicPr>
          <p:cNvPr id="7" name="Picture 6" descr="04_tablero_matriz_prior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5532120" cy="4231835"/>
          </a:xfrm>
          <a:prstGeom prst="rect">
            <a:avLst/>
          </a:prstGeom>
          <a:ln w="12700">
            <a:solidFill>
              <a:srgbClr val="E3E7EC"/>
            </a:solidFill>
          </a:ln>
          <a:effectLst/>
        </p:spPr>
      </p:pic>
      <p:pic>
        <p:nvPicPr>
          <p:cNvPr id="8" name="Picture 7" descr="05_tablero_factores_influe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532120" cy="4149090"/>
          </a:xfrm>
          <a:prstGeom prst="rect">
            <a:avLst/>
          </a:prstGeom>
          <a:ln w="12700">
            <a:solidFill>
              <a:srgbClr val="E3E7EC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548640" y="59893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363636"/>
                </a:solidFill>
                <a:latin typeface="Calibri"/>
              </a:rPr>
              <a:t>Matriz de Priorización — Zona Crítica (alto riesgo + alto valor)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9893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363636"/>
                </a:solidFill>
                <a:latin typeface="Calibri"/>
              </a:rPr>
              <a:t>Factores de Influencia — Contract, tenure y TotalCharges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9E"/>
                </a:solidFill>
                <a:latin typeface="Calibri"/>
              </a:rPr>
              <a:t>TelcoChurn — Despliegue de Soluciones Analíticas en la Nube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ECAE6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Resultados y 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28016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ECAE6"/>
                </a:solidFill>
                <a:latin typeface="Calibri"/>
              </a:rPr>
              <a:t>11/12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400">
                <a:solidFill>
                  <a:srgbClr val="F16A70"/>
                </a:solidFill>
                <a:latin typeface="Calibri"/>
              </a:rPr>
              <a:t>●  </a:t>
            </a:r>
            <a:r>
              <a:rPr b="1" sz="1700">
                <a:solidFill>
                  <a:srgbClr val="1F4E79"/>
                </a:solidFill>
                <a:latin typeface="Calibri"/>
              </a:rPr>
              <a:t>Prototipo funcional completo. </a:t>
            </a:r>
            <a:r>
              <a:rPr sz="1700">
                <a:solidFill>
                  <a:srgbClr val="363636"/>
                </a:solidFill>
                <a:latin typeface="Calibri"/>
              </a:rPr>
              <a:t>Modelo + API + tablero, desplegados en la nube y accesibles públicamente.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400">
                <a:solidFill>
                  <a:srgbClr val="F16A70"/>
                </a:solidFill>
                <a:latin typeface="Calibri"/>
              </a:rPr>
              <a:t>●  </a:t>
            </a:r>
            <a:r>
              <a:rPr b="1" sz="1700">
                <a:solidFill>
                  <a:srgbClr val="1F4E79"/>
                </a:solidFill>
                <a:latin typeface="Calibri"/>
              </a:rPr>
              <a:t>Arquitectura desacoplada. </a:t>
            </a:r>
            <a:r>
              <a:rPr sz="1700">
                <a:solidFill>
                  <a:srgbClr val="363636"/>
                </a:solidFill>
                <a:latin typeface="Calibri"/>
              </a:rPr>
              <a:t>El modelo puede actualizarse y redesplegarse sin tocar el tablero, y viceversa — más cercano a producción real.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400">
                <a:solidFill>
                  <a:srgbClr val="F16A70"/>
                </a:solidFill>
                <a:latin typeface="Calibri"/>
              </a:rPr>
              <a:t>●  </a:t>
            </a:r>
            <a:r>
              <a:rPr b="1" sz="1700">
                <a:solidFill>
                  <a:srgbClr val="1F4E79"/>
                </a:solidFill>
                <a:latin typeface="Calibri"/>
              </a:rPr>
              <a:t>Impacto de negocio. </a:t>
            </a:r>
            <a:r>
              <a:rPr sz="1700">
                <a:solidFill>
                  <a:srgbClr val="363636"/>
                </a:solidFill>
                <a:latin typeface="Calibri"/>
              </a:rPr>
              <a:t>El modelo identifica automáticamente las cuentas de mayor prioridad para retención (Zona Crítica).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400">
                <a:solidFill>
                  <a:srgbClr val="F16A70"/>
                </a:solidFill>
                <a:latin typeface="Calibri"/>
              </a:rPr>
              <a:t>●  </a:t>
            </a:r>
            <a:r>
              <a:rPr b="1" sz="1700">
                <a:solidFill>
                  <a:srgbClr val="1F4E79"/>
                </a:solidFill>
                <a:latin typeface="Calibri"/>
              </a:rPr>
              <a:t>Consistencia. </a:t>
            </a:r>
            <a:r>
              <a:rPr sz="1700">
                <a:solidFill>
                  <a:srgbClr val="363636"/>
                </a:solidFill>
                <a:latin typeface="Calibri"/>
              </a:rPr>
              <a:t>Los factores más determinantes (Contract, tenure, TotalCharges) son estables entre el EDA, el modelo y las dos entregas anteriores.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400">
                <a:solidFill>
                  <a:srgbClr val="F16A70"/>
                </a:solidFill>
                <a:latin typeface="Calibri"/>
              </a:rPr>
              <a:t>●  </a:t>
            </a:r>
            <a:r>
              <a:rPr b="1" sz="1700">
                <a:solidFill>
                  <a:srgbClr val="1F4E79"/>
                </a:solidFill>
                <a:latin typeface="Calibri"/>
              </a:rPr>
              <a:t>Trabajo futuro: </a:t>
            </a:r>
            <a:r>
              <a:rPr sz="1700">
                <a:solidFill>
                  <a:srgbClr val="363636"/>
                </a:solidFill>
                <a:latin typeface="Calibri"/>
              </a:rPr>
              <a:t>autenticación en la API, monitoreo de drift del modelo, y un pipeline CI/CD que despliegue automáticamente ante cada actualización.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9E"/>
                </a:solidFill>
                <a:latin typeface="Calibri"/>
              </a:rPr>
              <a:t>TelcoChurn — Despliegue de Soluciones Analíticas en la Nube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6118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8ECAE6"/>
                </a:solidFill>
                <a:latin typeface="Calibri"/>
              </a:rPr>
              <a:t>Preguntas y retroalimentación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7548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Ferney Duarte Garzón  ·  Andrés Mauricio Rueda Blanco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ECAE6"/>
                </a:solidFill>
                <a:latin typeface="Calibri"/>
              </a:rPr>
              <a:t>github.com/fduarteg2/ProjectChurn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