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03920" y="0"/>
            <a:ext cx="3687775" cy="6858000"/>
          </a:xfrm>
          <a:prstGeom prst="rect">
            <a:avLst/>
          </a:prstGeom>
          <a:solidFill>
            <a:srgbClr val="153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18320" y="1097280"/>
            <a:ext cx="1280160" cy="1280160"/>
          </a:xfrm>
          <a:prstGeom prst="ellipse">
            <a:avLst/>
          </a:prstGeom>
          <a:solidFill>
            <a:srgbClr val="8EC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98480" y="3291840"/>
            <a:ext cx="1828800" cy="18288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0" y="4937760"/>
            <a:ext cx="1005840" cy="1005840"/>
          </a:xfrm>
          <a:prstGeom prst="ellipse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ECAE6"/>
                </a:solidFill>
                <a:latin typeface="Calibri"/>
              </a:rPr>
              <a:t>PROYECTO FINAL · DESPLIEGUE DE SOLUCIONES ANALÍTICAS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 dirty="0" err="1">
                <a:solidFill>
                  <a:srgbClr val="FFFFFF"/>
                </a:solidFill>
                <a:latin typeface="Calibri"/>
              </a:rPr>
              <a:t>TelcoChurn</a:t>
            </a:r>
            <a:endParaRPr sz="6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3429000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DE6EE"/>
                </a:solidFill>
                <a:latin typeface="Calibri"/>
              </a:rPr>
              <a:t>Predicción de fuga de clientes, servida como API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DE6EE"/>
                </a:solidFill>
                <a:latin typeface="Calibri"/>
              </a:rPr>
              <a:t>y visualizada en un tablero — desplegados en la nube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4343400"/>
            <a:ext cx="822960" cy="381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572000"/>
            <a:ext cx="6400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 dirty="0">
                <a:solidFill>
                  <a:srgbClr val="FFFFFF"/>
                </a:solidFill>
                <a:latin typeface="Calibri"/>
              </a:rPr>
              <a:t>Andrés Mauricio Rueda Blanco</a:t>
            </a:r>
            <a:r>
              <a:rPr lang="es-419" sz="1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CO" sz="1600" b="1" dirty="0">
                <a:solidFill>
                  <a:srgbClr val="FFFFFF"/>
                </a:solidFill>
              </a:rPr>
              <a:t>· </a:t>
            </a:r>
            <a:r>
              <a:rPr lang="en-US" sz="1600" b="1" dirty="0">
                <a:solidFill>
                  <a:srgbClr val="FFFFFF"/>
                </a:solidFill>
              </a:rPr>
              <a:t>Ferney Duarte Garzón 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0120" y="493776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ECAE6"/>
                </a:solidFill>
                <a:latin typeface="Calibri"/>
              </a:rPr>
              <a:t>github.com/fduarteg2/ProjectChurn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ECAE6"/>
                </a:solidFill>
                <a:latin typeface="Calibri"/>
              </a:rPr>
              <a:t>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18488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 dirty="0">
                <a:solidFill>
                  <a:srgbClr val="363636"/>
                </a:solidFill>
                <a:latin typeface="Calibri"/>
              </a:rPr>
              <a:t>El </a:t>
            </a:r>
            <a:r>
              <a:rPr sz="1900" b="0" i="0" dirty="0" err="1">
                <a:solidFill>
                  <a:srgbClr val="363636"/>
                </a:solidFill>
                <a:latin typeface="Calibri"/>
              </a:rPr>
              <a:t>problema</a:t>
            </a:r>
            <a:r>
              <a:rPr sz="1900" b="0" i="0" dirty="0">
                <a:solidFill>
                  <a:srgbClr val="363636"/>
                </a:solidFill>
                <a:latin typeface="Calibri"/>
              </a:rPr>
              <a:t> y la </a:t>
            </a:r>
            <a:r>
              <a:rPr sz="1900" b="0" i="0" dirty="0" err="1">
                <a:solidFill>
                  <a:srgbClr val="363636"/>
                </a:solidFill>
                <a:latin typeface="Calibri"/>
              </a:rPr>
              <a:t>oportunidad</a:t>
            </a:r>
            <a:r>
              <a:rPr sz="1900" b="0" i="0" dirty="0">
                <a:solidFill>
                  <a:srgbClr val="363636"/>
                </a:solidFill>
                <a:latin typeface="Calibri"/>
              </a:rPr>
              <a:t> de </a:t>
            </a:r>
            <a:r>
              <a:rPr sz="1900" b="0" i="0" dirty="0" err="1">
                <a:solidFill>
                  <a:srgbClr val="363636"/>
                </a:solidFill>
                <a:latin typeface="Calibri"/>
              </a:rPr>
              <a:t>negocio</a:t>
            </a:r>
            <a:endParaRPr sz="1900" b="0" i="0" dirty="0">
              <a:solidFill>
                <a:srgbClr val="363636"/>
              </a:solidFill>
              <a:latin typeface="Calibri"/>
            </a:endParaRPr>
          </a:p>
        </p:txBody>
      </p:sp>
      <p:sp>
        <p:nvSpPr>
          <p:cNvPr id="9" name="Oval 8"/>
          <p:cNvSpPr/>
          <p:nvPr/>
        </p:nvSpPr>
        <p:spPr>
          <a:xfrm>
            <a:off x="731520" y="2304288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68296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 dirty="0" err="1">
                <a:solidFill>
                  <a:srgbClr val="363636"/>
                </a:solidFill>
                <a:latin typeface="Calibri"/>
              </a:rPr>
              <a:t>Modelos</a:t>
            </a:r>
            <a:r>
              <a:rPr sz="1900" b="0" i="0" dirty="0">
                <a:solidFill>
                  <a:srgbClr val="363636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363636"/>
                </a:solidFill>
                <a:latin typeface="Calibri"/>
              </a:rPr>
              <a:t>construidos</a:t>
            </a:r>
            <a:r>
              <a:rPr sz="1900" b="0" i="0" dirty="0">
                <a:solidFill>
                  <a:srgbClr val="363636"/>
                </a:solidFill>
                <a:latin typeface="Calibri"/>
              </a:rPr>
              <a:t> y </a:t>
            </a:r>
            <a:r>
              <a:rPr sz="1900" b="0" i="0" dirty="0" err="1">
                <a:solidFill>
                  <a:srgbClr val="363636"/>
                </a:solidFill>
                <a:latin typeface="Calibri"/>
              </a:rPr>
              <a:t>evaluación</a:t>
            </a:r>
            <a:r>
              <a:rPr sz="1900" b="0" i="0" dirty="0">
                <a:solidFill>
                  <a:srgbClr val="363636"/>
                </a:solidFill>
                <a:latin typeface="Calibri"/>
              </a:rPr>
              <a:t> (</a:t>
            </a:r>
            <a:r>
              <a:rPr sz="1900" b="0" i="0" dirty="0" err="1">
                <a:solidFill>
                  <a:srgbClr val="363636"/>
                </a:solidFill>
                <a:latin typeface="Calibri"/>
              </a:rPr>
              <a:t>MLflow</a:t>
            </a:r>
            <a:r>
              <a:rPr sz="1900" b="0" i="0" dirty="0">
                <a:solidFill>
                  <a:srgbClr val="363636"/>
                </a:solidFill>
                <a:latin typeface="Calibri"/>
              </a:rPr>
              <a:t>)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054096"/>
            <a:ext cx="502920" cy="502920"/>
          </a:xfrm>
          <a:prstGeom prst="ellipse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18104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363636"/>
                </a:solidFill>
                <a:latin typeface="Calibri"/>
              </a:rPr>
              <a:t>La solución: tablero + API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803904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867912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363636"/>
                </a:solidFill>
                <a:latin typeface="Calibri"/>
              </a:rPr>
              <a:t>Arquitectura y despliegue en la nube (Docker + AWS EC2)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553712"/>
            <a:ext cx="502920" cy="502920"/>
          </a:xfrm>
          <a:prstGeom prst="ellipse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61772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363636"/>
                </a:solidFill>
                <a:latin typeface="Calibri"/>
              </a:rPr>
              <a:t>Demostración en vivo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367528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363636"/>
                </a:solidFill>
                <a:latin typeface="Calibri"/>
              </a:rPr>
              <a:t>Resultados, conclusiones y trabajo futuro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9E"/>
                </a:solidFill>
                <a:latin typeface="Calibri"/>
              </a:rPr>
              <a:t>TelcoChurn — Despliegue de Soluciones Analíticas en la Nube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ECAE6"/>
                </a:solidFill>
                <a:latin typeface="Calibri"/>
              </a:rPr>
              <a:t>CONTEXTO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8195"/>
            <a:ext cx="6035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400">
                <a:solidFill>
                  <a:srgbClr val="F16A70"/>
                </a:solidFill>
                <a:latin typeface="Calibri"/>
              </a:rPr>
              <a:t>●  </a:t>
            </a:r>
            <a:r>
              <a:rPr sz="1700" b="1">
                <a:solidFill>
                  <a:srgbClr val="1F4E79"/>
                </a:solidFill>
                <a:latin typeface="Calibri"/>
              </a:rPr>
              <a:t>Reactivo, no proactivo. </a:t>
            </a:r>
            <a:r>
              <a:rPr sz="1700">
                <a:solidFill>
                  <a:srgbClr val="363636"/>
                </a:solidFill>
                <a:latin typeface="Calibri"/>
              </a:rPr>
              <a:t>Los equipos de gestión de cuentas se enteran de la insatisfacción del cliente cuando la cancelación ya fue decidida.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400">
                <a:solidFill>
                  <a:srgbClr val="F16A70"/>
                </a:solidFill>
                <a:latin typeface="Calibri"/>
              </a:rPr>
              <a:t>●  </a:t>
            </a:r>
            <a:r>
              <a:rPr sz="1700" b="1">
                <a:solidFill>
                  <a:srgbClr val="1F4E79"/>
                </a:solidFill>
                <a:latin typeface="Calibri"/>
              </a:rPr>
              <a:t>Costo asimétrico. </a:t>
            </a:r>
            <a:r>
              <a:rPr sz="1700">
                <a:solidFill>
                  <a:srgbClr val="363636"/>
                </a:solidFill>
                <a:latin typeface="Calibri"/>
              </a:rPr>
              <a:t>Retener un cliente cuesta significativamente menos que adquirir uno nuevo.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400">
                <a:solidFill>
                  <a:srgbClr val="F16A70"/>
                </a:solidFill>
                <a:latin typeface="Calibri"/>
              </a:rPr>
              <a:t>●  </a:t>
            </a:r>
            <a:r>
              <a:rPr sz="1700" b="1">
                <a:solidFill>
                  <a:srgbClr val="1F4E79"/>
                </a:solidFill>
                <a:latin typeface="Calibri"/>
              </a:rPr>
              <a:t>Falta de foco. </a:t>
            </a:r>
            <a:r>
              <a:rPr sz="1700">
                <a:solidFill>
                  <a:srgbClr val="363636"/>
                </a:solidFill>
                <a:latin typeface="Calibri"/>
              </a:rPr>
              <a:t>No hay una herramienta que priorice el esfuerzo de retención hacia los clientes de mayor valor.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768195"/>
            <a:ext cx="4754880" cy="9601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78040" y="1887067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¿Qué clientes tienen mayor probabilidad de cancelar,</a:t>
            </a:r>
          </a:p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y qué factores lo explican?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2956915"/>
            <a:ext cx="15087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03720" y="2956915"/>
            <a:ext cx="82296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0" y="3066643"/>
            <a:ext cx="1143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4E79"/>
                </a:solidFill>
                <a:latin typeface="Calibri"/>
              </a:rPr>
              <a:t>7,043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944467"/>
            <a:ext cx="1143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63636"/>
                </a:solidFill>
                <a:latin typeface="Calibri"/>
              </a:rPr>
              <a:t>clientes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63636"/>
                </a:solidFill>
                <a:latin typeface="Calibri"/>
              </a:rPr>
              <a:t>analizados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2956915"/>
            <a:ext cx="15087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49640" y="2956915"/>
            <a:ext cx="82296" cy="13716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0" y="3066643"/>
            <a:ext cx="1143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16A70"/>
                </a:solidFill>
                <a:latin typeface="Calibri"/>
              </a:rP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944467"/>
            <a:ext cx="1143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63636"/>
                </a:solidFill>
                <a:latin typeface="Calibri"/>
              </a:rPr>
              <a:t>variables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63636"/>
                </a:solidFill>
                <a:latin typeface="Calibri"/>
              </a:rPr>
              <a:t>predictoras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95560" y="2956915"/>
            <a:ext cx="14630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195560" y="2956915"/>
            <a:ext cx="82296" cy="1371600"/>
          </a:xfrm>
          <a:prstGeom prst="rect">
            <a:avLst/>
          </a:prstGeom>
          <a:solidFill>
            <a:srgbClr val="8EC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24160" y="3066643"/>
            <a:ext cx="1097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8ECAE6"/>
                </a:solidFill>
                <a:latin typeface="Calibri"/>
              </a:rPr>
              <a:t>26.5%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3944467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63636"/>
                </a:solidFill>
                <a:latin typeface="Calibri"/>
              </a:rPr>
              <a:t>tasa de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63636"/>
                </a:solidFill>
                <a:latin typeface="Calibri"/>
              </a:rPr>
              <a:t>churn histórica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77155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16A70"/>
                </a:solidFill>
                <a:latin typeface="Calibri"/>
              </a:rPr>
              <a:t>DATOS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197195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63636"/>
                </a:solidFill>
                <a:latin typeface="Calibri"/>
              </a:rPr>
              <a:t>Telco Customer Churn (Kaggle) — identificación, demografía, servicios contratados y cuenta/pagos. Sin cambios respecto a la Entrega 2.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9E"/>
                </a:solidFill>
                <a:latin typeface="Calibri"/>
              </a:rPr>
              <a:t>TelcoChurn — Despliegue de Soluciones Analíticas en la Nube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ECAE6"/>
                </a:solidFill>
                <a:latin typeface="Calibri"/>
              </a:rP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Modelos construidos y experimentación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6621" y="2170938"/>
            <a:ext cx="4804044" cy="2822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00" dirty="0">
                <a:solidFill>
                  <a:srgbClr val="F16A70"/>
                </a:solidFill>
                <a:latin typeface="Calibri"/>
              </a:rPr>
              <a:t>●  </a:t>
            </a:r>
            <a:r>
              <a:rPr sz="1600" b="1" dirty="0">
                <a:solidFill>
                  <a:srgbClr val="1F4E79"/>
                </a:solidFill>
                <a:latin typeface="Calibri"/>
              </a:rPr>
              <a:t>9 </a:t>
            </a:r>
            <a:r>
              <a:rPr sz="1600" b="1" dirty="0" err="1">
                <a:solidFill>
                  <a:srgbClr val="1F4E79"/>
                </a:solidFill>
                <a:latin typeface="Calibri"/>
              </a:rPr>
              <a:t>experimentos</a:t>
            </a:r>
            <a:r>
              <a:rPr sz="1600" b="1" dirty="0">
                <a:solidFill>
                  <a:srgbClr val="1F4E79"/>
                </a:solidFill>
                <a:latin typeface="Calibri"/>
              </a:rPr>
              <a:t>, </a:t>
            </a:r>
            <a:r>
              <a:rPr sz="1600" dirty="0">
                <a:solidFill>
                  <a:srgbClr val="363636"/>
                </a:solidFill>
                <a:latin typeface="Calibri"/>
              </a:rPr>
              <a:t>3 </a:t>
            </a:r>
            <a:r>
              <a:rPr sz="1600" dirty="0" err="1">
                <a:solidFill>
                  <a:srgbClr val="363636"/>
                </a:solidFill>
                <a:latin typeface="Calibri"/>
              </a:rPr>
              <a:t>familias</a:t>
            </a:r>
            <a:r>
              <a:rPr sz="1600" dirty="0">
                <a:solidFill>
                  <a:srgbClr val="363636"/>
                </a:solidFill>
                <a:latin typeface="Calibri"/>
              </a:rPr>
              <a:t> de </a:t>
            </a:r>
            <a:r>
              <a:rPr sz="1600" dirty="0" err="1">
                <a:solidFill>
                  <a:srgbClr val="363636"/>
                </a:solidFill>
                <a:latin typeface="Calibri"/>
              </a:rPr>
              <a:t>modelos</a:t>
            </a:r>
            <a:r>
              <a:rPr sz="1600" dirty="0">
                <a:solidFill>
                  <a:srgbClr val="363636"/>
                </a:solidFill>
                <a:latin typeface="Calibri"/>
              </a:rPr>
              <a:t>: </a:t>
            </a:r>
            <a:r>
              <a:rPr sz="1600" dirty="0" err="1">
                <a:solidFill>
                  <a:srgbClr val="363636"/>
                </a:solidFill>
                <a:latin typeface="Calibri"/>
              </a:rPr>
              <a:t>Regresión</a:t>
            </a:r>
            <a:r>
              <a:rPr sz="1600" dirty="0">
                <a:solidFill>
                  <a:srgbClr val="363636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63636"/>
                </a:solidFill>
                <a:latin typeface="Calibri"/>
              </a:rPr>
              <a:t>Logística</a:t>
            </a:r>
            <a:r>
              <a:rPr sz="1600" dirty="0">
                <a:solidFill>
                  <a:srgbClr val="363636"/>
                </a:solidFill>
                <a:latin typeface="Calibri"/>
              </a:rPr>
              <a:t>, Random Forest, Gradient Boosting.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00" dirty="0">
                <a:solidFill>
                  <a:srgbClr val="F16A70"/>
                </a:solidFill>
                <a:latin typeface="Calibri"/>
              </a:rPr>
              <a:t>●  </a:t>
            </a:r>
            <a:r>
              <a:rPr sz="1600" b="1" dirty="0">
                <a:solidFill>
                  <a:srgbClr val="1F4E79"/>
                </a:solidFill>
                <a:latin typeface="Calibri"/>
              </a:rPr>
              <a:t>Todo </a:t>
            </a:r>
            <a:r>
              <a:rPr sz="1600" b="1" dirty="0" err="1">
                <a:solidFill>
                  <a:srgbClr val="1F4E79"/>
                </a:solidFill>
                <a:latin typeface="Calibri"/>
              </a:rPr>
              <a:t>registrado</a:t>
            </a:r>
            <a:r>
              <a:rPr sz="1600" b="1" dirty="0">
                <a:solidFill>
                  <a:srgbClr val="1F4E7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4E79"/>
                </a:solidFill>
                <a:latin typeface="Calibri"/>
              </a:rPr>
              <a:t>en</a:t>
            </a:r>
            <a:r>
              <a:rPr sz="1600" b="1" dirty="0">
                <a:solidFill>
                  <a:srgbClr val="1F4E7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4E79"/>
                </a:solidFill>
                <a:latin typeface="Calibri"/>
              </a:rPr>
              <a:t>MLflow</a:t>
            </a:r>
            <a:r>
              <a:rPr sz="1600" b="1" dirty="0">
                <a:solidFill>
                  <a:srgbClr val="1F4E79"/>
                </a:solidFill>
                <a:latin typeface="Calibri"/>
              </a:rPr>
              <a:t>: </a:t>
            </a:r>
            <a:r>
              <a:rPr sz="1600" dirty="0" err="1">
                <a:solidFill>
                  <a:srgbClr val="363636"/>
                </a:solidFill>
                <a:latin typeface="Calibri"/>
              </a:rPr>
              <a:t>parámetros</a:t>
            </a:r>
            <a:r>
              <a:rPr sz="1600" dirty="0">
                <a:solidFill>
                  <a:srgbClr val="363636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63636"/>
                </a:solidFill>
                <a:latin typeface="Calibri"/>
              </a:rPr>
              <a:t>métricas</a:t>
            </a:r>
            <a:r>
              <a:rPr sz="1600" dirty="0">
                <a:solidFill>
                  <a:srgbClr val="363636"/>
                </a:solidFill>
                <a:latin typeface="Calibri"/>
              </a:rPr>
              <a:t> (accuracy, precision, recall, F1, ROC AUC) y </a:t>
            </a:r>
            <a:r>
              <a:rPr sz="1600" dirty="0" err="1">
                <a:solidFill>
                  <a:srgbClr val="363636"/>
                </a:solidFill>
                <a:latin typeface="Calibri"/>
              </a:rPr>
              <a:t>artefactos</a:t>
            </a:r>
            <a:r>
              <a:rPr sz="1600" dirty="0">
                <a:solidFill>
                  <a:srgbClr val="363636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00" dirty="0">
                <a:solidFill>
                  <a:srgbClr val="F16A70"/>
                </a:solidFill>
                <a:latin typeface="Calibri"/>
              </a:rPr>
              <a:t>●  </a:t>
            </a:r>
            <a:r>
              <a:rPr sz="1600" b="1" dirty="0">
                <a:solidFill>
                  <a:srgbClr val="1F4E79"/>
                </a:solidFill>
                <a:latin typeface="Calibri"/>
              </a:rPr>
              <a:t>Pipeline reproducible: </a:t>
            </a:r>
            <a:r>
              <a:rPr sz="1600" dirty="0" err="1">
                <a:solidFill>
                  <a:srgbClr val="363636"/>
                </a:solidFill>
                <a:latin typeface="Calibri"/>
              </a:rPr>
              <a:t>imputación</a:t>
            </a:r>
            <a:r>
              <a:rPr sz="1600" dirty="0">
                <a:solidFill>
                  <a:srgbClr val="363636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63636"/>
                </a:solidFill>
                <a:latin typeface="Calibri"/>
              </a:rPr>
              <a:t>escalado</a:t>
            </a:r>
            <a:r>
              <a:rPr sz="1600" dirty="0">
                <a:solidFill>
                  <a:srgbClr val="363636"/>
                </a:solidFill>
                <a:latin typeface="Calibri"/>
              </a:rPr>
              <a:t> y one-hot encoding </a:t>
            </a:r>
            <a:r>
              <a:rPr sz="1600" dirty="0" err="1">
                <a:solidFill>
                  <a:srgbClr val="363636"/>
                </a:solidFill>
                <a:latin typeface="Calibri"/>
              </a:rPr>
              <a:t>encadenados</a:t>
            </a:r>
            <a:r>
              <a:rPr sz="1600" dirty="0">
                <a:solidFill>
                  <a:srgbClr val="363636"/>
                </a:solidFill>
                <a:latin typeface="Calibri"/>
              </a:rPr>
              <a:t> con el </a:t>
            </a:r>
            <a:r>
              <a:rPr sz="1600" dirty="0" err="1">
                <a:solidFill>
                  <a:srgbClr val="363636"/>
                </a:solidFill>
                <a:latin typeface="Calibri"/>
              </a:rPr>
              <a:t>clasificador</a:t>
            </a:r>
            <a:r>
              <a:rPr sz="1600" dirty="0">
                <a:solidFill>
                  <a:srgbClr val="363636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00" dirty="0">
                <a:solidFill>
                  <a:srgbClr val="F16A70"/>
                </a:solidFill>
                <a:latin typeface="Calibri"/>
              </a:rPr>
              <a:t>●  </a:t>
            </a:r>
            <a:r>
              <a:rPr sz="1600" b="1" dirty="0" err="1">
                <a:solidFill>
                  <a:srgbClr val="1F4E79"/>
                </a:solidFill>
                <a:latin typeface="Calibri"/>
              </a:rPr>
              <a:t>Desplegado</a:t>
            </a:r>
            <a:r>
              <a:rPr sz="1600" b="1" dirty="0">
                <a:solidFill>
                  <a:srgbClr val="1F4E7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4E79"/>
                </a:solidFill>
                <a:latin typeface="Calibri"/>
              </a:rPr>
              <a:t>en</a:t>
            </a:r>
            <a:r>
              <a:rPr sz="1600" b="1" dirty="0">
                <a:solidFill>
                  <a:srgbClr val="1F4E79"/>
                </a:solidFill>
                <a:latin typeface="Calibri"/>
              </a:rPr>
              <a:t> AWS EC2: </a:t>
            </a:r>
            <a:r>
              <a:rPr sz="1600" dirty="0" err="1">
                <a:solidFill>
                  <a:srgbClr val="363636"/>
                </a:solidFill>
                <a:latin typeface="Calibri"/>
              </a:rPr>
              <a:t>servidor</a:t>
            </a:r>
            <a:r>
              <a:rPr sz="1600" dirty="0">
                <a:solidFill>
                  <a:srgbClr val="363636"/>
                </a:solidFill>
                <a:latin typeface="Calibri"/>
              </a:rPr>
              <a:t> de </a:t>
            </a:r>
            <a:r>
              <a:rPr sz="1600" dirty="0" err="1">
                <a:solidFill>
                  <a:srgbClr val="363636"/>
                </a:solidFill>
                <a:latin typeface="Calibri"/>
              </a:rPr>
              <a:t>MLflow</a:t>
            </a:r>
            <a:r>
              <a:rPr sz="1600" dirty="0">
                <a:solidFill>
                  <a:srgbClr val="363636"/>
                </a:solidFill>
                <a:latin typeface="Calibri"/>
              </a:rPr>
              <a:t> con IP </a:t>
            </a:r>
            <a:r>
              <a:rPr sz="1600" dirty="0" err="1">
                <a:solidFill>
                  <a:srgbClr val="363636"/>
                </a:solidFill>
                <a:latin typeface="Calibri"/>
              </a:rPr>
              <a:t>pública</a:t>
            </a:r>
            <a:r>
              <a:rPr sz="1600" dirty="0">
                <a:solidFill>
                  <a:srgbClr val="363636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63636"/>
                </a:solidFill>
                <a:latin typeface="Calibri"/>
              </a:rPr>
              <a:t>evidencia</a:t>
            </a:r>
            <a:r>
              <a:rPr sz="1600" dirty="0">
                <a:solidFill>
                  <a:srgbClr val="363636"/>
                </a:solidFill>
                <a:latin typeface="Calibri"/>
              </a:rPr>
              <a:t> de </a:t>
            </a:r>
            <a:r>
              <a:rPr sz="1600" dirty="0" err="1">
                <a:solidFill>
                  <a:srgbClr val="363636"/>
                </a:solidFill>
                <a:latin typeface="Calibri"/>
              </a:rPr>
              <a:t>todas</a:t>
            </a:r>
            <a:r>
              <a:rPr sz="1600" dirty="0">
                <a:solidFill>
                  <a:srgbClr val="363636"/>
                </a:solidFill>
                <a:latin typeface="Calibri"/>
              </a:rPr>
              <a:t> las corridas.</a:t>
            </a:r>
          </a:p>
        </p:txBody>
      </p:sp>
      <p:pic>
        <p:nvPicPr>
          <p:cNvPr id="8" name="Picture 7" descr="e2_fig1_f1_compa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665" y="1940969"/>
            <a:ext cx="6694714" cy="3124200"/>
          </a:xfrm>
          <a:prstGeom prst="rect">
            <a:avLst/>
          </a:prstGeom>
          <a:ln w="12700">
            <a:solidFill>
              <a:srgbClr val="E3E7EC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9E"/>
                </a:solidFill>
                <a:latin typeface="Calibri"/>
              </a:rPr>
              <a:t>TelcoChurn — Despliegue de Soluciones Analíticas en la Nube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ECAE6"/>
                </a:solidFill>
                <a:latin typeface="Calibri"/>
              </a:rP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Modelo seleccionado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7" y="1828800"/>
            <a:ext cx="4119052" cy="310896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6406" y="2106437"/>
            <a:ext cx="33832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 dirty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406" y="2730597"/>
            <a:ext cx="33832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 dirty="0">
                <a:solidFill>
                  <a:srgbClr val="8ECAE6"/>
                </a:solidFill>
                <a:latin typeface="Calibri"/>
              </a:rPr>
              <a:t>400 </a:t>
            </a:r>
            <a:r>
              <a:rPr sz="1400" b="0" i="0" dirty="0" err="1">
                <a:solidFill>
                  <a:srgbClr val="8ECAE6"/>
                </a:solidFill>
                <a:latin typeface="Calibri"/>
              </a:rPr>
              <a:t>árboles</a:t>
            </a:r>
            <a:r>
              <a:rPr sz="1400" b="0" i="0" dirty="0">
                <a:solidFill>
                  <a:srgbClr val="8ECAE6"/>
                </a:solidFill>
                <a:latin typeface="Calibri"/>
              </a:rPr>
              <a:t> · </a:t>
            </a:r>
            <a:r>
              <a:rPr sz="1400" b="0" i="0" dirty="0" err="1">
                <a:solidFill>
                  <a:srgbClr val="8ECAE6"/>
                </a:solidFill>
                <a:latin typeface="Calibri"/>
              </a:rPr>
              <a:t>profundidad</a:t>
            </a:r>
            <a:r>
              <a:rPr sz="1400" b="0" i="0" dirty="0">
                <a:solidFill>
                  <a:srgbClr val="8ECAE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ECAE6"/>
                </a:solidFill>
                <a:latin typeface="Calibri"/>
              </a:rPr>
              <a:t>máx</a:t>
            </a:r>
            <a:r>
              <a:rPr sz="1400" b="0" i="0" dirty="0">
                <a:solidFill>
                  <a:srgbClr val="8ECAE6"/>
                </a:solidFill>
                <a:latin typeface="Calibri"/>
              </a:rPr>
              <a:t>. 10</a:t>
            </a:r>
          </a:p>
          <a:p>
            <a:pPr algn="ctr">
              <a:lnSpc>
                <a:spcPct val="100000"/>
              </a:lnSpc>
            </a:pPr>
            <a:r>
              <a:rPr sz="1400" b="0" i="0" dirty="0" err="1">
                <a:solidFill>
                  <a:srgbClr val="8ECAE6"/>
                </a:solidFill>
                <a:latin typeface="Calibri"/>
              </a:rPr>
              <a:t>class_weight</a:t>
            </a:r>
            <a:r>
              <a:rPr sz="1400" b="0" i="0" dirty="0">
                <a:solidFill>
                  <a:srgbClr val="8ECAE6"/>
                </a:solidFill>
                <a:latin typeface="Calibri"/>
              </a:rPr>
              <a:t> = balanced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223" y="3444098"/>
            <a:ext cx="338328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 dirty="0">
                <a:solidFill>
                  <a:srgbClr val="FFFFFF"/>
                </a:solidFill>
                <a:latin typeface="Calibri"/>
              </a:rPr>
              <a:t>Prioriza </a:t>
            </a:r>
            <a:r>
              <a:rPr sz="1350" b="0" i="0" dirty="0" err="1">
                <a:solidFill>
                  <a:srgbClr val="FFFFFF"/>
                </a:solidFill>
                <a:latin typeface="Calibri"/>
              </a:rPr>
              <a:t>capturar</a:t>
            </a:r>
            <a:r>
              <a:rPr sz="13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FFFFFF"/>
                </a:solidFill>
                <a:latin typeface="Calibri"/>
              </a:rPr>
              <a:t>clientes</a:t>
            </a:r>
            <a:r>
              <a:rPr sz="13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13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FFFFFF"/>
                </a:solidFill>
                <a:latin typeface="Calibri"/>
              </a:rPr>
              <a:t>riesgo</a:t>
            </a:r>
            <a:r>
              <a:rPr sz="1350" b="0" i="0" dirty="0">
                <a:solidFill>
                  <a:srgbClr val="FFFFFF"/>
                </a:solidFill>
                <a:latin typeface="Calibri"/>
              </a:rPr>
              <a:t> (recall alto) sin </a:t>
            </a:r>
            <a:r>
              <a:rPr sz="1350" b="0" i="0" dirty="0" err="1">
                <a:solidFill>
                  <a:srgbClr val="FFFFFF"/>
                </a:solidFill>
                <a:latin typeface="Calibri"/>
              </a:rPr>
              <a:t>sacrificar</a:t>
            </a:r>
            <a:r>
              <a:rPr sz="13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FFFFFF"/>
                </a:solidFill>
                <a:latin typeface="Calibri"/>
              </a:rPr>
              <a:t>demasiada</a:t>
            </a:r>
            <a:r>
              <a:rPr sz="13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FFFFFF"/>
                </a:solidFill>
                <a:latin typeface="Calibri"/>
              </a:rPr>
              <a:t>precisión</a:t>
            </a:r>
            <a:r>
              <a:rPr sz="1350" b="0" i="0" dirty="0">
                <a:solidFill>
                  <a:srgbClr val="FFFFFF"/>
                </a:solidFill>
                <a:latin typeface="Calibri"/>
              </a:rPr>
              <a:t> — el balance </a:t>
            </a:r>
            <a:r>
              <a:rPr sz="1350" b="0" i="0" dirty="0" err="1">
                <a:solidFill>
                  <a:srgbClr val="FFFFFF"/>
                </a:solidFill>
                <a:latin typeface="Calibri"/>
              </a:rPr>
              <a:t>correcto</a:t>
            </a:r>
            <a:r>
              <a:rPr sz="1350" b="0" i="0" dirty="0">
                <a:solidFill>
                  <a:srgbClr val="FFFFFF"/>
                </a:solidFill>
                <a:latin typeface="Calibri"/>
              </a:rPr>
              <a:t> para un </a:t>
            </a:r>
            <a:r>
              <a:rPr sz="1350" b="0" i="0" dirty="0" err="1">
                <a:solidFill>
                  <a:srgbClr val="FFFFFF"/>
                </a:solidFill>
                <a:latin typeface="Calibri"/>
              </a:rPr>
              <a:t>flujo</a:t>
            </a:r>
            <a:r>
              <a:rPr sz="1350" b="0" i="0" dirty="0">
                <a:solidFill>
                  <a:srgbClr val="FFFFFF"/>
                </a:solidFill>
                <a:latin typeface="Calibri"/>
              </a:rPr>
              <a:t> de triage </a:t>
            </a:r>
            <a:r>
              <a:rPr sz="1350" b="0" i="0" dirty="0" err="1">
                <a:solidFill>
                  <a:srgbClr val="FFFFFF"/>
                </a:solidFill>
                <a:latin typeface="Calibri"/>
              </a:rPr>
              <a:t>donde</a:t>
            </a:r>
            <a:r>
              <a:rPr sz="1350" b="0" i="0" dirty="0">
                <a:solidFill>
                  <a:srgbClr val="FFFFFF"/>
                </a:solidFill>
                <a:latin typeface="Calibri"/>
              </a:rPr>
              <a:t> un Account Manager </a:t>
            </a:r>
            <a:r>
              <a:rPr sz="1350" b="0" i="0" dirty="0" err="1">
                <a:solidFill>
                  <a:srgbClr val="FFFFFF"/>
                </a:solidFill>
                <a:latin typeface="Calibri"/>
              </a:rPr>
              <a:t>revisa</a:t>
            </a:r>
            <a:r>
              <a:rPr sz="1350" b="0" i="0" dirty="0">
                <a:solidFill>
                  <a:srgbClr val="FFFFFF"/>
                </a:solidFill>
                <a:latin typeface="Calibri"/>
              </a:rPr>
              <a:t> la </a:t>
            </a:r>
            <a:r>
              <a:rPr sz="1350" b="0" i="0" dirty="0" err="1">
                <a:solidFill>
                  <a:srgbClr val="FFFFFF"/>
                </a:solidFill>
                <a:latin typeface="Calibri"/>
              </a:rPr>
              <a:t>lista</a:t>
            </a:r>
            <a:r>
              <a:rPr sz="13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FFFFFF"/>
                </a:solidFill>
                <a:latin typeface="Calibri"/>
              </a:rPr>
              <a:t>priorizada</a:t>
            </a:r>
            <a:r>
              <a:rPr sz="1350" b="0" i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7893" y="1371600"/>
            <a:ext cx="18288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7893" y="1371600"/>
            <a:ext cx="82296" cy="150876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6493" y="1481328"/>
            <a:ext cx="1463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16A70"/>
                </a:solidFill>
                <a:latin typeface="Calibri"/>
              </a:rPr>
              <a:t>0.622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6493" y="2496312"/>
            <a:ext cx="1463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363636"/>
                </a:solidFill>
                <a:latin typeface="Calibri"/>
              </a:rPr>
              <a:t>F1-score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3853" y="1371600"/>
            <a:ext cx="18288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33853" y="1371600"/>
            <a:ext cx="82296" cy="1508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62453" y="1481328"/>
            <a:ext cx="1463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4E79"/>
                </a:solidFill>
                <a:latin typeface="Calibri"/>
              </a:rPr>
              <a:t>0.719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2453" y="2496312"/>
            <a:ext cx="1463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363636"/>
                </a:solidFill>
                <a:latin typeface="Calibri"/>
              </a:rPr>
              <a:t>Recall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7893" y="3017520"/>
            <a:ext cx="18288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7893" y="3017520"/>
            <a:ext cx="82296" cy="1508760"/>
          </a:xfrm>
          <a:prstGeom prst="rect">
            <a:avLst/>
          </a:prstGeom>
          <a:solidFill>
            <a:srgbClr val="8EC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6493" y="3127248"/>
            <a:ext cx="1463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8ECAE6"/>
                </a:solidFill>
                <a:latin typeface="Calibri"/>
              </a:rPr>
              <a:t>0.548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6493" y="4142232"/>
            <a:ext cx="1463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363636"/>
                </a:solidFill>
                <a:latin typeface="Calibri"/>
              </a:rPr>
              <a:t>Precision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33853" y="3017520"/>
            <a:ext cx="18288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33853" y="3017520"/>
            <a:ext cx="82296" cy="150876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62453" y="3127248"/>
            <a:ext cx="1463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16A70"/>
                </a:solidFill>
                <a:latin typeface="Calibri"/>
              </a:rPr>
              <a:t>0.840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2453" y="4142232"/>
            <a:ext cx="1463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363636"/>
                </a:solidFill>
                <a:latin typeface="Calibri"/>
              </a:rPr>
              <a:t>ROC AUC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4800600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16A70"/>
                </a:solidFill>
                <a:latin typeface="Calibri"/>
              </a:rPr>
              <a:t>¿POR QUÉ ESTE MODELO Y NO OTRO?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5120640"/>
            <a:ext cx="6309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50">
                <a:solidFill>
                  <a:srgbClr val="F16A70"/>
                </a:solidFill>
                <a:latin typeface="Calibri"/>
              </a:rPr>
              <a:t>●  </a:t>
            </a:r>
            <a:r>
              <a:rPr sz="1350">
                <a:solidFill>
                  <a:srgbClr val="363636"/>
                </a:solidFill>
                <a:latin typeface="Calibri"/>
              </a:rPr>
              <a:t>Regresión Logística: mejor recall (~0.78) pero precisión baja (~0.50) — sobre-alerta.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50">
                <a:solidFill>
                  <a:srgbClr val="F16A70"/>
                </a:solidFill>
                <a:latin typeface="Calibri"/>
              </a:rPr>
              <a:t>●  </a:t>
            </a:r>
            <a:r>
              <a:rPr sz="1350">
                <a:solidFill>
                  <a:srgbClr val="363636"/>
                </a:solidFill>
                <a:latin typeface="Calibri"/>
              </a:rPr>
              <a:t>Gradient Boosting: mayor accuracy (0.80) pero recall bajo (~0.52) — deja pasar churners.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9E"/>
                </a:solidFill>
                <a:latin typeface="Calibri"/>
              </a:rPr>
              <a:t>TelcoChurn — Despliegue de Soluciones Analíticas en la Nube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ECAE6"/>
                </a:solidFill>
                <a:latin typeface="Calibri"/>
              </a:rPr>
              <a:t>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La solución: tablero +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F16A70"/>
                </a:solidFill>
                <a:latin typeface="Calibri"/>
              </a:rPr>
              <a:t>●  </a:t>
            </a:r>
            <a:r>
              <a:rPr sz="1700">
                <a:solidFill>
                  <a:srgbClr val="363636"/>
                </a:solidFill>
                <a:latin typeface="Calibri"/>
              </a:rPr>
              <a:t>Un producto de datos de punta a punta: modelo empaquetado, servido por una API, y consumido por un tablero interactivo.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3611880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 dirty="0">
                <a:solidFill>
                  <a:srgbClr val="363636"/>
                </a:solidFill>
                <a:latin typeface="Calibri"/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4E79"/>
                </a:solidFill>
                <a:latin typeface="Calibri"/>
              </a:rPr>
              <a:t>Simulador de</a:t>
            </a:r>
          </a:p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4E79"/>
                </a:solidFill>
                <a:latin typeface="Calibri"/>
              </a:rPr>
              <a:t>Escenarios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3063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63636"/>
                </a:solidFill>
                <a:latin typeface="Calibri"/>
              </a:rPr>
              <a:t>Ajusta variables de un cliente y observa el cambio en su probabilidad de fuga en tiempo real.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5146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2514600"/>
            <a:ext cx="3611880" cy="109728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27889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363636"/>
                </a:solidFill>
                <a:latin typeface="Calibri"/>
              </a:rPr>
              <a:t>🗺️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429000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4E79"/>
                </a:solidFill>
                <a:latin typeface="Calibri"/>
              </a:rPr>
              <a:t>Matriz de</a:t>
            </a:r>
          </a:p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4E79"/>
                </a:solidFill>
                <a:latin typeface="Calibri"/>
              </a:rPr>
              <a:t>Priorización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160520"/>
            <a:ext cx="3063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63636"/>
                </a:solidFill>
                <a:latin typeface="Calibri"/>
              </a:rPr>
              <a:t>Cruza riesgo vs. valor (facturación) para identificar la Zona Crítica a priorizar.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5146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2514600"/>
            <a:ext cx="3611880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27889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363636"/>
                </a:solidFill>
                <a:latin typeface="Calibri"/>
              </a:rP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429000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4E79"/>
                </a:solidFill>
                <a:latin typeface="Calibri"/>
              </a:rPr>
              <a:t>Factores de</a:t>
            </a:r>
          </a:p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4E79"/>
                </a:solidFill>
                <a:latin typeface="Calibri"/>
              </a:rPr>
              <a:t>Influencia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160520"/>
            <a:ext cx="3063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63636"/>
                </a:solidFill>
                <a:latin typeface="Calibri"/>
              </a:rPr>
              <a:t>Explicabilidad del modelo: qué variables de negocio más pesan en la predicción.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9E"/>
                </a:solidFill>
                <a:latin typeface="Calibri"/>
              </a:rPr>
              <a:t>TelcoChurn — Despliegue de Soluciones Analíticas en la Nube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ECAE6"/>
                </a:solidFill>
                <a:latin typeface="Calibri"/>
              </a:rPr>
              <a:t>INGENIERÍA DE DESPLIEGUE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Arquitectura: API + Tablero +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363636"/>
                </a:solidFill>
                <a:latin typeface="Calibri"/>
              </a:rPr>
              <a:t>Novedad de esta entrega: el tablero ya no carga el modelo — consume una API independiente.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2331720" cy="1371600"/>
          </a:xfrm>
          <a:prstGeom prst="roundRect">
            <a:avLst>
              <a:gd name="adj" fmla="val 10000"/>
            </a:avLst>
          </a:prstGeom>
          <a:solidFill>
            <a:srgbClr val="8A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2560320"/>
            <a:ext cx="20025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Usuario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090672"/>
            <a:ext cx="20025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 dirty="0" err="1">
                <a:solidFill>
                  <a:srgbClr val="E7EEF4"/>
                </a:solidFill>
                <a:latin typeface="Calibri"/>
              </a:rPr>
              <a:t>Navegador</a:t>
            </a:r>
            <a:endParaRPr sz="1100" b="0" i="0" dirty="0">
              <a:solidFill>
                <a:srgbClr val="E7EEF4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383280" y="2377440"/>
            <a:ext cx="2331720" cy="137160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47872" y="2560320"/>
            <a:ext cx="20025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churn-tablero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3090672"/>
            <a:ext cx="20025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E7EEF4"/>
                </a:solidFill>
                <a:latin typeface="Calibri"/>
              </a:rPr>
              <a:t>Streamlit · :8501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377440"/>
            <a:ext cx="2331720" cy="1371600"/>
          </a:xfrm>
          <a:prstGeom prst="roundRect">
            <a:avLst>
              <a:gd name="adj" fmla="val 10000"/>
            </a:avLst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2560320"/>
            <a:ext cx="20025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churn-api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090672"/>
            <a:ext cx="20025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E7EEF4"/>
                </a:solidFill>
                <a:latin typeface="Calibri"/>
              </a:rPr>
              <a:t>FastAPI · :8001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377440"/>
            <a:ext cx="2331720" cy="1371600"/>
          </a:xfrm>
          <a:prstGeom prst="roundRect">
            <a:avLst>
              <a:gd name="adj" fmla="val 10000"/>
            </a:avLst>
          </a:prstGeom>
          <a:solidFill>
            <a:srgbClr val="8EC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17152" y="2560320"/>
            <a:ext cx="20025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3090672"/>
            <a:ext cx="20025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E7EEF4"/>
                </a:solidFill>
                <a:latin typeface="Calibri"/>
              </a:rPr>
              <a:t>RandomForest .joblib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6052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16A70"/>
                </a:solidFill>
                <a:latin typeface="Calibri"/>
              </a:rPr>
              <a:t>TODO EN CONTENEDORES DOCKER — DESPLEGADO EN AWS EC2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7200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544568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 dirty="0">
                <a:solidFill>
                  <a:srgbClr val="363636"/>
                </a:solidFill>
                <a:latin typeface="Calibri"/>
              </a:rPr>
              <a:t>docker compose build &amp;&amp; docker compose up -d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2920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001768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 dirty="0">
                <a:solidFill>
                  <a:srgbClr val="363636"/>
                </a:solidFill>
                <a:latin typeface="Calibri"/>
              </a:rPr>
              <a:t>Security Group: </a:t>
            </a:r>
            <a:r>
              <a:rPr sz="1350" b="0" i="0" dirty="0" err="1">
                <a:solidFill>
                  <a:srgbClr val="363636"/>
                </a:solidFill>
                <a:latin typeface="Calibri"/>
              </a:rPr>
              <a:t>puertos</a:t>
            </a:r>
            <a:r>
              <a:rPr sz="1350" b="0" i="0" dirty="0">
                <a:solidFill>
                  <a:srgbClr val="363636"/>
                </a:solidFill>
                <a:latin typeface="Calibri"/>
              </a:rPr>
              <a:t> 8001 (API) y 8501 (</a:t>
            </a:r>
            <a:r>
              <a:rPr sz="1350" b="0" i="0" dirty="0" err="1">
                <a:solidFill>
                  <a:srgbClr val="363636"/>
                </a:solidFill>
                <a:latin typeface="Calibri"/>
              </a:rPr>
              <a:t>tablero</a:t>
            </a:r>
            <a:r>
              <a:rPr sz="1350" b="0" i="0" dirty="0">
                <a:solidFill>
                  <a:srgbClr val="363636"/>
                </a:solidFill>
                <a:latin typeface="Calibri"/>
              </a:rPr>
              <a:t>) </a:t>
            </a:r>
            <a:r>
              <a:rPr sz="1350" b="0" i="0" dirty="0" err="1">
                <a:solidFill>
                  <a:srgbClr val="363636"/>
                </a:solidFill>
                <a:latin typeface="Calibri"/>
              </a:rPr>
              <a:t>abiertos</a:t>
            </a:r>
            <a:endParaRPr sz="1350" b="0" i="0" dirty="0">
              <a:solidFill>
                <a:srgbClr val="363636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48640" y="548640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458968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363636"/>
                </a:solidFill>
                <a:latin typeface="Calibri"/>
              </a:rPr>
              <a:t>GET /health · POST /predict · POST /predict_batch · GET /feature-importances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9E"/>
                </a:solidFill>
                <a:latin typeface="Calibri"/>
              </a:rPr>
              <a:t>TelcoChurn — Despliegue de Soluciones Analíticas en la Nube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ECAE6"/>
                </a:solidFill>
                <a:latin typeface="Calibri"/>
              </a:rPr>
              <a:t>DEMOSTRACIÓN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La API en producción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9784" y="233916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F16A70"/>
                </a:solidFill>
                <a:latin typeface="Calibri"/>
              </a:rPr>
              <a:t>http://3.90.218.62:8001/docs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784" y="2842081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dirty="0">
                <a:solidFill>
                  <a:srgbClr val="F16A70"/>
                </a:solidFill>
                <a:latin typeface="Calibri"/>
              </a:rPr>
              <a:t>●  </a:t>
            </a:r>
            <a:r>
              <a:rPr sz="1500" dirty="0" err="1">
                <a:solidFill>
                  <a:srgbClr val="363636"/>
                </a:solidFill>
                <a:latin typeface="Calibri"/>
              </a:rPr>
              <a:t>Documentación</a:t>
            </a:r>
            <a:r>
              <a:rPr sz="1500" dirty="0">
                <a:solidFill>
                  <a:srgbClr val="363636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363636"/>
                </a:solidFill>
                <a:latin typeface="Calibri"/>
              </a:rPr>
              <a:t>interactiva</a:t>
            </a:r>
            <a:r>
              <a:rPr sz="1500" dirty="0">
                <a:solidFill>
                  <a:srgbClr val="363636"/>
                </a:solidFill>
                <a:latin typeface="Calibri"/>
              </a:rPr>
              <a:t> (Swagger UI) </a:t>
            </a:r>
            <a:r>
              <a:rPr sz="1500" dirty="0" err="1">
                <a:solidFill>
                  <a:srgbClr val="363636"/>
                </a:solidFill>
                <a:latin typeface="Calibri"/>
              </a:rPr>
              <a:t>autogenerada</a:t>
            </a:r>
            <a:r>
              <a:rPr sz="1500" dirty="0">
                <a:solidFill>
                  <a:srgbClr val="363636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363636"/>
                </a:solidFill>
                <a:latin typeface="Calibri"/>
              </a:rPr>
              <a:t>por</a:t>
            </a:r>
            <a:r>
              <a:rPr sz="1500" dirty="0">
                <a:solidFill>
                  <a:srgbClr val="363636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363636"/>
                </a:solidFill>
                <a:latin typeface="Calibri"/>
              </a:rPr>
              <a:t>FastAPI</a:t>
            </a:r>
            <a:r>
              <a:rPr sz="1500" dirty="0">
                <a:solidFill>
                  <a:srgbClr val="363636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dirty="0">
                <a:solidFill>
                  <a:srgbClr val="F16A70"/>
                </a:solidFill>
                <a:latin typeface="Calibri"/>
              </a:rPr>
              <a:t>●  </a:t>
            </a:r>
            <a:r>
              <a:rPr sz="1500" dirty="0">
                <a:solidFill>
                  <a:srgbClr val="363636"/>
                </a:solidFill>
                <a:latin typeface="Calibri"/>
              </a:rPr>
              <a:t>Endpoint POST /predict </a:t>
            </a:r>
            <a:r>
              <a:rPr sz="1500" dirty="0" err="1">
                <a:solidFill>
                  <a:srgbClr val="363636"/>
                </a:solidFill>
                <a:latin typeface="Calibri"/>
              </a:rPr>
              <a:t>recibe</a:t>
            </a:r>
            <a:r>
              <a:rPr sz="1500" dirty="0">
                <a:solidFill>
                  <a:srgbClr val="363636"/>
                </a:solidFill>
                <a:latin typeface="Calibri"/>
              </a:rPr>
              <a:t> el </a:t>
            </a:r>
            <a:r>
              <a:rPr sz="1500" dirty="0" err="1">
                <a:solidFill>
                  <a:srgbClr val="363636"/>
                </a:solidFill>
                <a:latin typeface="Calibri"/>
              </a:rPr>
              <a:t>perfil</a:t>
            </a:r>
            <a:r>
              <a:rPr sz="1500" dirty="0">
                <a:solidFill>
                  <a:srgbClr val="363636"/>
                </a:solidFill>
                <a:latin typeface="Calibri"/>
              </a:rPr>
              <a:t> del </a:t>
            </a:r>
            <a:r>
              <a:rPr sz="1500" dirty="0" err="1">
                <a:solidFill>
                  <a:srgbClr val="363636"/>
                </a:solidFill>
                <a:latin typeface="Calibri"/>
              </a:rPr>
              <a:t>cliente</a:t>
            </a:r>
            <a:r>
              <a:rPr sz="1500" dirty="0">
                <a:solidFill>
                  <a:srgbClr val="363636"/>
                </a:solidFill>
                <a:latin typeface="Calibri"/>
              </a:rPr>
              <a:t> y </a:t>
            </a:r>
            <a:r>
              <a:rPr sz="1500" dirty="0" err="1">
                <a:solidFill>
                  <a:srgbClr val="363636"/>
                </a:solidFill>
                <a:latin typeface="Calibri"/>
              </a:rPr>
              <a:t>responde</a:t>
            </a:r>
            <a:r>
              <a:rPr sz="1500" dirty="0">
                <a:solidFill>
                  <a:srgbClr val="363636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363636"/>
                </a:solidFill>
                <a:latin typeface="Calibri"/>
              </a:rPr>
              <a:t>probabilidad</a:t>
            </a:r>
            <a:r>
              <a:rPr sz="1500" dirty="0">
                <a:solidFill>
                  <a:srgbClr val="363636"/>
                </a:solidFill>
                <a:latin typeface="Calibri"/>
              </a:rPr>
              <a:t> de </a:t>
            </a:r>
            <a:r>
              <a:rPr sz="1500" dirty="0" err="1">
                <a:solidFill>
                  <a:srgbClr val="363636"/>
                </a:solidFill>
                <a:latin typeface="Calibri"/>
              </a:rPr>
              <a:t>fuga</a:t>
            </a:r>
            <a:r>
              <a:rPr sz="1500" dirty="0">
                <a:solidFill>
                  <a:srgbClr val="363636"/>
                </a:solidFill>
                <a:latin typeface="Calibri"/>
              </a:rPr>
              <a:t> y </a:t>
            </a:r>
            <a:r>
              <a:rPr sz="1500" dirty="0" err="1">
                <a:solidFill>
                  <a:srgbClr val="363636"/>
                </a:solidFill>
                <a:latin typeface="Calibri"/>
              </a:rPr>
              <a:t>etiqueta</a:t>
            </a:r>
            <a:r>
              <a:rPr sz="1500" dirty="0">
                <a:solidFill>
                  <a:srgbClr val="363636"/>
                </a:solidFill>
                <a:latin typeface="Calibri"/>
              </a:rPr>
              <a:t> de </a:t>
            </a:r>
            <a:r>
              <a:rPr sz="1500" dirty="0" err="1">
                <a:solidFill>
                  <a:srgbClr val="363636"/>
                </a:solidFill>
                <a:latin typeface="Calibri"/>
              </a:rPr>
              <a:t>riesgo</a:t>
            </a:r>
            <a:r>
              <a:rPr sz="1500" dirty="0">
                <a:solidFill>
                  <a:srgbClr val="363636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dirty="0">
                <a:solidFill>
                  <a:srgbClr val="F16A70"/>
                </a:solidFill>
                <a:latin typeface="Calibri"/>
              </a:rPr>
              <a:t>●  </a:t>
            </a:r>
            <a:r>
              <a:rPr sz="1500" dirty="0">
                <a:solidFill>
                  <a:srgbClr val="363636"/>
                </a:solidFill>
                <a:latin typeface="Calibri"/>
              </a:rPr>
              <a:t>La IP </a:t>
            </a:r>
            <a:r>
              <a:rPr sz="1500" dirty="0" err="1">
                <a:solidFill>
                  <a:srgbClr val="363636"/>
                </a:solidFill>
                <a:latin typeface="Calibri"/>
              </a:rPr>
              <a:t>pública</a:t>
            </a:r>
            <a:r>
              <a:rPr sz="1500" dirty="0">
                <a:solidFill>
                  <a:srgbClr val="363636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363636"/>
                </a:solidFill>
                <a:latin typeface="Calibri"/>
              </a:rPr>
              <a:t>confirma</a:t>
            </a:r>
            <a:r>
              <a:rPr sz="1500" dirty="0">
                <a:solidFill>
                  <a:srgbClr val="363636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363636"/>
                </a:solidFill>
                <a:latin typeface="Calibri"/>
              </a:rPr>
              <a:t>que</a:t>
            </a:r>
            <a:r>
              <a:rPr sz="1500" dirty="0">
                <a:solidFill>
                  <a:srgbClr val="363636"/>
                </a:solidFill>
                <a:latin typeface="Calibri"/>
              </a:rPr>
              <a:t> la API </a:t>
            </a:r>
            <a:r>
              <a:rPr sz="1500" dirty="0" err="1">
                <a:solidFill>
                  <a:srgbClr val="363636"/>
                </a:solidFill>
                <a:latin typeface="Calibri"/>
              </a:rPr>
              <a:t>responde</a:t>
            </a:r>
            <a:r>
              <a:rPr sz="1500" dirty="0">
                <a:solidFill>
                  <a:srgbClr val="363636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363636"/>
                </a:solidFill>
                <a:latin typeface="Calibri"/>
              </a:rPr>
              <a:t>desde</a:t>
            </a:r>
            <a:r>
              <a:rPr sz="1500" dirty="0">
                <a:solidFill>
                  <a:srgbClr val="363636"/>
                </a:solidFill>
                <a:latin typeface="Calibri"/>
              </a:rPr>
              <a:t> la </a:t>
            </a:r>
            <a:r>
              <a:rPr sz="1500" dirty="0" err="1">
                <a:solidFill>
                  <a:srgbClr val="363636"/>
                </a:solidFill>
                <a:latin typeface="Calibri"/>
              </a:rPr>
              <a:t>instancia</a:t>
            </a:r>
            <a:r>
              <a:rPr sz="1500" dirty="0">
                <a:solidFill>
                  <a:srgbClr val="363636"/>
                </a:solidFill>
                <a:latin typeface="Calibri"/>
              </a:rPr>
              <a:t> EC2 </a:t>
            </a:r>
            <a:r>
              <a:rPr sz="1500" dirty="0" err="1">
                <a:solidFill>
                  <a:srgbClr val="363636"/>
                </a:solidFill>
                <a:latin typeface="Calibri"/>
              </a:rPr>
              <a:t>desplegada</a:t>
            </a:r>
            <a:r>
              <a:rPr sz="1500" dirty="0">
                <a:solidFill>
                  <a:srgbClr val="363636"/>
                </a:solidFill>
                <a:latin typeface="Calibri"/>
              </a:rPr>
              <a:t>, no </a:t>
            </a:r>
            <a:r>
              <a:rPr sz="1500" dirty="0" err="1">
                <a:solidFill>
                  <a:srgbClr val="363636"/>
                </a:solidFill>
                <a:latin typeface="Calibri"/>
              </a:rPr>
              <a:t>en</a:t>
            </a:r>
            <a:r>
              <a:rPr sz="1500" dirty="0">
                <a:solidFill>
                  <a:srgbClr val="363636"/>
                </a:solidFill>
                <a:latin typeface="Calibri"/>
              </a:rPr>
              <a:t>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9E"/>
                </a:solidFill>
                <a:latin typeface="Calibri"/>
              </a:rPr>
              <a:t>TelcoChurn — Despliegue de Soluciones Analíticas en la Nube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3E5FFD-429E-16C3-B6EB-124C36F1D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462" y="1307592"/>
            <a:ext cx="6669555" cy="50898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ECAE6"/>
                </a:solidFill>
                <a:latin typeface="Calibri"/>
              </a:rPr>
              <a:t>DEMOSTRACIÓN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El tablero: Simulador de Escenarios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900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F16A70"/>
                </a:solidFill>
                <a:latin typeface="Calibri"/>
              </a:rPr>
              <a:t>http://3.90.218.62:8501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9464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>
                <a:solidFill>
                  <a:srgbClr val="F16A70"/>
                </a:solidFill>
                <a:latin typeface="Calibri"/>
              </a:rPr>
              <a:t>●  </a:t>
            </a:r>
            <a:r>
              <a:rPr sz="1500">
                <a:solidFill>
                  <a:srgbClr val="363636"/>
                </a:solidFill>
                <a:latin typeface="Calibri"/>
              </a:rPr>
              <a:t>El Account Manager elige un cliente y ajusta variables de negocio (contrato, soporte técnico, método de pago).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>
                <a:solidFill>
                  <a:srgbClr val="F16A70"/>
                </a:solidFill>
                <a:latin typeface="Calibri"/>
              </a:rPr>
              <a:t>●  </a:t>
            </a:r>
            <a:r>
              <a:rPr sz="1500">
                <a:solidFill>
                  <a:srgbClr val="363636"/>
                </a:solidFill>
                <a:latin typeface="Calibri"/>
              </a:rPr>
              <a:t>La probabilidad de fuga se recalcula al instante — vía llamada HTTP a churn-api.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>
                <a:solidFill>
                  <a:srgbClr val="F16A70"/>
                </a:solidFill>
                <a:latin typeface="Calibri"/>
              </a:rPr>
              <a:t>●  </a:t>
            </a:r>
            <a:r>
              <a:rPr sz="1500">
                <a:solidFill>
                  <a:srgbClr val="363636"/>
                </a:solidFill>
                <a:latin typeface="Calibri"/>
              </a:rPr>
              <a:t>Permite evaluar, antes de contactar al cliente, qué acción de retención tendría más impacto.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9E"/>
                </a:solidFill>
                <a:latin typeface="Calibri"/>
              </a:rPr>
              <a:t>TelcoChurn — Despliegue de Soluciones Analíticas en la Nube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863439-A804-6959-2A6C-2C4C46118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24356"/>
            <a:ext cx="6436655" cy="49320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ECAE6"/>
                </a:solidFill>
                <a:latin typeface="Calibri"/>
              </a:rPr>
              <a:t>DEMOSTRACIÓN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Priorización y explicabilidad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680" y="57607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 dirty="0" err="1">
                <a:solidFill>
                  <a:srgbClr val="363636"/>
                </a:solidFill>
                <a:latin typeface="Calibri"/>
              </a:rPr>
              <a:t>Matriz</a:t>
            </a:r>
            <a:r>
              <a:rPr sz="1250" b="0" i="1" dirty="0">
                <a:solidFill>
                  <a:srgbClr val="363636"/>
                </a:solidFill>
                <a:latin typeface="Calibri"/>
              </a:rPr>
              <a:t> de </a:t>
            </a:r>
            <a:r>
              <a:rPr sz="1250" b="0" i="1" dirty="0" err="1">
                <a:solidFill>
                  <a:srgbClr val="363636"/>
                </a:solidFill>
                <a:latin typeface="Calibri"/>
              </a:rPr>
              <a:t>Priorización</a:t>
            </a:r>
            <a:r>
              <a:rPr sz="1250" b="0" i="1" dirty="0">
                <a:solidFill>
                  <a:srgbClr val="363636"/>
                </a:solidFill>
                <a:latin typeface="Calibri"/>
              </a:rPr>
              <a:t> — Zona </a:t>
            </a:r>
            <a:r>
              <a:rPr sz="1250" b="0" i="1" dirty="0" err="1">
                <a:solidFill>
                  <a:srgbClr val="363636"/>
                </a:solidFill>
                <a:latin typeface="Calibri"/>
              </a:rPr>
              <a:t>Crítica</a:t>
            </a:r>
            <a:r>
              <a:rPr sz="1250" b="0" i="1" dirty="0">
                <a:solidFill>
                  <a:srgbClr val="363636"/>
                </a:solidFill>
                <a:latin typeface="Calibri"/>
              </a:rPr>
              <a:t> (alto </a:t>
            </a:r>
            <a:r>
              <a:rPr sz="1250" b="0" i="1" dirty="0" err="1">
                <a:solidFill>
                  <a:srgbClr val="363636"/>
                </a:solidFill>
                <a:latin typeface="Calibri"/>
              </a:rPr>
              <a:t>riesgo</a:t>
            </a:r>
            <a:r>
              <a:rPr sz="1250" b="0" i="1" dirty="0">
                <a:solidFill>
                  <a:srgbClr val="363636"/>
                </a:solidFill>
                <a:latin typeface="Calibri"/>
              </a:rPr>
              <a:t> + alto valor)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2" y="590823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 dirty="0" err="1">
                <a:solidFill>
                  <a:srgbClr val="363636"/>
                </a:solidFill>
                <a:latin typeface="Calibri"/>
              </a:rPr>
              <a:t>Factores</a:t>
            </a:r>
            <a:r>
              <a:rPr sz="1250" b="0" i="1" dirty="0">
                <a:solidFill>
                  <a:srgbClr val="363636"/>
                </a:solidFill>
                <a:latin typeface="Calibri"/>
              </a:rPr>
              <a:t> de </a:t>
            </a:r>
            <a:r>
              <a:rPr sz="1250" b="0" i="1" dirty="0" err="1">
                <a:solidFill>
                  <a:srgbClr val="363636"/>
                </a:solidFill>
                <a:latin typeface="Calibri"/>
              </a:rPr>
              <a:t>Influencia</a:t>
            </a:r>
            <a:r>
              <a:rPr sz="1250" b="0" i="1" dirty="0">
                <a:solidFill>
                  <a:srgbClr val="363636"/>
                </a:solidFill>
                <a:latin typeface="Calibri"/>
              </a:rPr>
              <a:t> — Contract, tenure y </a:t>
            </a:r>
            <a:r>
              <a:rPr sz="1250" b="0" i="1" dirty="0" err="1">
                <a:solidFill>
                  <a:srgbClr val="363636"/>
                </a:solidFill>
                <a:latin typeface="Calibri"/>
              </a:rPr>
              <a:t>TotalCharges</a:t>
            </a:r>
            <a:endParaRPr sz="1250" b="0" i="1" dirty="0">
              <a:solidFill>
                <a:srgbClr val="363636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9E"/>
                </a:solidFill>
                <a:latin typeface="Calibri"/>
              </a:rPr>
              <a:t>TelcoChurn — Despliegue de Soluciones Analíticas en la Nube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C96C9B4-1421-7077-4B8E-168A172FB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08" y="1291590"/>
            <a:ext cx="5692794" cy="43553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44BA65-9F33-0C5E-F389-3BD889701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291590"/>
            <a:ext cx="5943600" cy="44532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ECAE6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Resultados y conclusiones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400">
                <a:solidFill>
                  <a:srgbClr val="F16A70"/>
                </a:solidFill>
                <a:latin typeface="Calibri"/>
              </a:rPr>
              <a:t>●  </a:t>
            </a:r>
            <a:r>
              <a:rPr sz="1700" b="1">
                <a:solidFill>
                  <a:srgbClr val="1F4E79"/>
                </a:solidFill>
                <a:latin typeface="Calibri"/>
              </a:rPr>
              <a:t>Prototipo funcional completo. </a:t>
            </a:r>
            <a:r>
              <a:rPr sz="1700">
                <a:solidFill>
                  <a:srgbClr val="363636"/>
                </a:solidFill>
                <a:latin typeface="Calibri"/>
              </a:rPr>
              <a:t>Modelo + API + tablero, desplegados en la nube y accesibles públicamente.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400">
                <a:solidFill>
                  <a:srgbClr val="F16A70"/>
                </a:solidFill>
                <a:latin typeface="Calibri"/>
              </a:rPr>
              <a:t>●  </a:t>
            </a:r>
            <a:r>
              <a:rPr sz="1700" b="1">
                <a:solidFill>
                  <a:srgbClr val="1F4E79"/>
                </a:solidFill>
                <a:latin typeface="Calibri"/>
              </a:rPr>
              <a:t>Arquitectura desacoplada. </a:t>
            </a:r>
            <a:r>
              <a:rPr sz="1700">
                <a:solidFill>
                  <a:srgbClr val="363636"/>
                </a:solidFill>
                <a:latin typeface="Calibri"/>
              </a:rPr>
              <a:t>El modelo puede actualizarse y redesplegarse sin tocar el tablero, y viceversa — más cercano a producción real.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400">
                <a:solidFill>
                  <a:srgbClr val="F16A70"/>
                </a:solidFill>
                <a:latin typeface="Calibri"/>
              </a:rPr>
              <a:t>●  </a:t>
            </a:r>
            <a:r>
              <a:rPr sz="1700" b="1">
                <a:solidFill>
                  <a:srgbClr val="1F4E79"/>
                </a:solidFill>
                <a:latin typeface="Calibri"/>
              </a:rPr>
              <a:t>Impacto de negocio. </a:t>
            </a:r>
            <a:r>
              <a:rPr sz="1700">
                <a:solidFill>
                  <a:srgbClr val="363636"/>
                </a:solidFill>
                <a:latin typeface="Calibri"/>
              </a:rPr>
              <a:t>El modelo identifica automáticamente las cuentas de mayor prioridad para retención (Zona Crítica).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400">
                <a:solidFill>
                  <a:srgbClr val="F16A70"/>
                </a:solidFill>
                <a:latin typeface="Calibri"/>
              </a:rPr>
              <a:t>●  </a:t>
            </a:r>
            <a:r>
              <a:rPr sz="1700" b="1">
                <a:solidFill>
                  <a:srgbClr val="1F4E79"/>
                </a:solidFill>
                <a:latin typeface="Calibri"/>
              </a:rPr>
              <a:t>Consistencia. </a:t>
            </a:r>
            <a:r>
              <a:rPr sz="1700">
                <a:solidFill>
                  <a:srgbClr val="363636"/>
                </a:solidFill>
                <a:latin typeface="Calibri"/>
              </a:rPr>
              <a:t>Los factores más determinantes (Contract, tenure, TotalCharges) son estables entre el EDA, el modelo y las dos entregas anteriores.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400">
                <a:solidFill>
                  <a:srgbClr val="F16A70"/>
                </a:solidFill>
                <a:latin typeface="Calibri"/>
              </a:rPr>
              <a:t>●  </a:t>
            </a:r>
            <a:r>
              <a:rPr sz="1700" b="1">
                <a:solidFill>
                  <a:srgbClr val="1F4E79"/>
                </a:solidFill>
                <a:latin typeface="Calibri"/>
              </a:rPr>
              <a:t>Trabajo futuro: </a:t>
            </a:r>
            <a:r>
              <a:rPr sz="1700">
                <a:solidFill>
                  <a:srgbClr val="363636"/>
                </a:solidFill>
                <a:latin typeface="Calibri"/>
              </a:rPr>
              <a:t>autenticación en la API, monitoreo de drift del modelo, y un pipeline CI/CD que despliegue automáticamente ante cada actualización.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9E"/>
                </a:solidFill>
                <a:latin typeface="Calibri"/>
              </a:rPr>
              <a:t>TelcoChurn — Despliegue de Soluciones Analíticas en la Nube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1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6118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8ECAE6"/>
                </a:solidFill>
                <a:latin typeface="Calibri"/>
              </a:rPr>
              <a:t>Preguntas y retroalimentación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7548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Ferney Duarte Garzón  ·  Andrés Mauricio Rueda Blanco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ECAE6"/>
                </a:solidFill>
                <a:latin typeface="Calibri"/>
              </a:rPr>
              <a:t>github.com/fduarteg2/ProjectChurn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975</Words>
  <Application>Microsoft Macintosh PowerPoint</Application>
  <PresentationFormat>Widescreen</PresentationFormat>
  <Paragraphs>128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Ferney Duarte Garzon</cp:lastModifiedBy>
  <cp:revision>9</cp:revision>
  <dcterms:created xsi:type="dcterms:W3CDTF">2013-01-27T09:14:16Z</dcterms:created>
  <dcterms:modified xsi:type="dcterms:W3CDTF">2026-07-20T21:00:25Z</dcterms:modified>
  <cp:category/>
</cp:coreProperties>
</file>